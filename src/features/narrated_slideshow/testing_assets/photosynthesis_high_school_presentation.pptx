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7142"/>
  <p:notesSz cx="12192000" cy="82105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23752" y="897379"/>
            <a:ext cx="7544494" cy="11169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rgbClr val="0D5C33"/>
                </a:solidFill>
                <a:latin typeface="Montserrat"/>
                <a:cs typeface="Montserra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97376"/>
            <a:ext cx="8534400" cy="1739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12700">
              <a:lnSpc>
                <a:spcPts val="969"/>
              </a:lnSpc>
            </a:pPr>
            <a:r>
              <a:rPr dirty="0" spc="-80"/>
              <a:t>Made</a:t>
            </a:r>
            <a:r>
              <a:rPr dirty="0" spc="-15"/>
              <a:t> </a:t>
            </a:r>
            <a:r>
              <a:rPr dirty="0" spc="-60"/>
              <a:t>with</a:t>
            </a:r>
            <a:r>
              <a:rPr dirty="0" spc="-10"/>
              <a:t> </a:t>
            </a:r>
            <a:r>
              <a:rPr dirty="0" spc="-55"/>
              <a:t>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0D5C33"/>
                </a:solidFill>
                <a:latin typeface="Montserrat"/>
                <a:cs typeface="Montserra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12700">
              <a:lnSpc>
                <a:spcPts val="969"/>
              </a:lnSpc>
            </a:pPr>
            <a:r>
              <a:rPr dirty="0" spc="-80"/>
              <a:t>Made</a:t>
            </a:r>
            <a:r>
              <a:rPr dirty="0" spc="-15"/>
              <a:t> </a:t>
            </a:r>
            <a:r>
              <a:rPr dirty="0" spc="-60"/>
              <a:t>with</a:t>
            </a:r>
            <a:r>
              <a:rPr dirty="0" spc="-10"/>
              <a:t> </a:t>
            </a:r>
            <a:r>
              <a:rPr dirty="0" spc="-55"/>
              <a:t>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0D5C33"/>
                </a:solidFill>
                <a:latin typeface="Montserrat"/>
                <a:cs typeface="Montserra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600708"/>
            <a:ext cx="5303520" cy="45933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600708"/>
            <a:ext cx="5303520" cy="45933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12700">
              <a:lnSpc>
                <a:spcPts val="969"/>
              </a:lnSpc>
            </a:pPr>
            <a:r>
              <a:rPr dirty="0" spc="-80"/>
              <a:t>Made</a:t>
            </a:r>
            <a:r>
              <a:rPr dirty="0" spc="-15"/>
              <a:t> </a:t>
            </a:r>
            <a:r>
              <a:rPr dirty="0" spc="-60"/>
              <a:t>with</a:t>
            </a:r>
            <a:r>
              <a:rPr dirty="0" spc="-10"/>
              <a:t> </a:t>
            </a:r>
            <a:r>
              <a:rPr dirty="0" spc="-55"/>
              <a:t>Genspark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rgbClr val="0D5C33"/>
                </a:solidFill>
                <a:latin typeface="Montserrat"/>
                <a:cs typeface="Montserra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12700">
              <a:lnSpc>
                <a:spcPts val="969"/>
              </a:lnSpc>
            </a:pPr>
            <a:r>
              <a:rPr dirty="0" spc="-80"/>
              <a:t>Made</a:t>
            </a:r>
            <a:r>
              <a:rPr dirty="0" spc="-15"/>
              <a:t> </a:t>
            </a:r>
            <a:r>
              <a:rPr dirty="0" spc="-60"/>
              <a:t>with</a:t>
            </a:r>
            <a:r>
              <a:rPr dirty="0" spc="-10"/>
              <a:t> </a:t>
            </a:r>
            <a:r>
              <a:rPr dirty="0" spc="-55"/>
              <a:t>Genspark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12700">
              <a:lnSpc>
                <a:spcPts val="969"/>
              </a:lnSpc>
            </a:pPr>
            <a:r>
              <a:rPr dirty="0" spc="-80"/>
              <a:t>Made</a:t>
            </a:r>
            <a:r>
              <a:rPr dirty="0" spc="-15"/>
              <a:t> </a:t>
            </a:r>
            <a:r>
              <a:rPr dirty="0" spc="-60"/>
              <a:t>with</a:t>
            </a:r>
            <a:r>
              <a:rPr dirty="0" spc="-10"/>
              <a:t> </a:t>
            </a:r>
            <a:r>
              <a:rPr dirty="0" spc="-55"/>
              <a:t>Genspark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95250"/>
          </a:xfrm>
          <a:custGeom>
            <a:avLst/>
            <a:gdLst/>
            <a:ahLst/>
            <a:cxnLst/>
            <a:rect l="l" t="t" r="r" b="b"/>
            <a:pathLst>
              <a:path w="12192000" h="95250">
                <a:moveTo>
                  <a:pt x="12191999" y="95249"/>
                </a:moveTo>
                <a:lnTo>
                  <a:pt x="0" y="952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9"/>
                </a:lnTo>
                <a:close/>
              </a:path>
            </a:pathLst>
          </a:custGeom>
          <a:solidFill>
            <a:srgbClr val="2D8B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899" y="381728"/>
            <a:ext cx="6907530" cy="501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rgbClr val="0D5C33"/>
                </a:solidFill>
                <a:latin typeface="Montserrat"/>
                <a:cs typeface="Montserra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600708"/>
            <a:ext cx="10972800" cy="45933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0689232" y="6446049"/>
            <a:ext cx="1210945" cy="132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pPr marL="12700">
              <a:lnSpc>
                <a:spcPts val="969"/>
              </a:lnSpc>
            </a:pPr>
            <a:r>
              <a:rPr dirty="0" spc="-80"/>
              <a:t>Made</a:t>
            </a:r>
            <a:r>
              <a:rPr dirty="0" spc="-15"/>
              <a:t> </a:t>
            </a:r>
            <a:r>
              <a:rPr dirty="0" spc="-60"/>
              <a:t>with</a:t>
            </a:r>
            <a:r>
              <a:rPr dirty="0" spc="-10"/>
              <a:t> </a:t>
            </a:r>
            <a:r>
              <a:rPr dirty="0" spc="-55"/>
              <a:t>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472428"/>
            <a:ext cx="2804160" cy="347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472428"/>
            <a:ext cx="2804160" cy="347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88595" rIns="0" bIns="0" rtlCol="0" vert="horz">
            <a:spAutoFit/>
          </a:bodyPr>
          <a:lstStyle/>
          <a:p>
            <a:pPr marL="2688590" marR="5080" indent="-2676525">
              <a:lnSpc>
                <a:spcPct val="72300"/>
              </a:lnSpc>
              <a:spcBef>
                <a:spcPts val="1485"/>
              </a:spcBef>
            </a:pPr>
            <a:r>
              <a:rPr dirty="0" sz="4150" spc="-340"/>
              <a:t>Photosynthesis</a:t>
            </a:r>
            <a:r>
              <a:rPr dirty="0" sz="4150" spc="-150"/>
              <a:t> </a:t>
            </a:r>
            <a:r>
              <a:rPr dirty="0" sz="4150" spc="-290"/>
              <a:t>for</a:t>
            </a:r>
            <a:r>
              <a:rPr dirty="0" sz="4150" spc="-150"/>
              <a:t> </a:t>
            </a:r>
            <a:r>
              <a:rPr dirty="0" sz="4150" spc="-365"/>
              <a:t>High</a:t>
            </a:r>
            <a:r>
              <a:rPr dirty="0" sz="4150" spc="-155"/>
              <a:t> </a:t>
            </a:r>
            <a:r>
              <a:rPr dirty="0" sz="4150" spc="-355"/>
              <a:t>School Students</a:t>
            </a:r>
            <a:endParaRPr sz="4150"/>
          </a:p>
        </p:txBody>
      </p:sp>
      <p:sp>
        <p:nvSpPr>
          <p:cNvPr id="3" name="object 3" descr=""/>
          <p:cNvSpPr txBox="1"/>
          <p:nvPr/>
        </p:nvSpPr>
        <p:spPr>
          <a:xfrm>
            <a:off x="3416151" y="2167889"/>
            <a:ext cx="536003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14">
                <a:solidFill>
                  <a:srgbClr val="333333"/>
                </a:solidFill>
                <a:latin typeface="Montserrat"/>
                <a:cs typeface="Montserrat"/>
              </a:rPr>
              <a:t>An</a:t>
            </a:r>
            <a:r>
              <a:rPr dirty="0" sz="1650" spc="-2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85">
                <a:solidFill>
                  <a:srgbClr val="333333"/>
                </a:solidFill>
                <a:latin typeface="Montserrat"/>
                <a:cs typeface="Montserrat"/>
              </a:rPr>
              <a:t>introduction</a:t>
            </a:r>
            <a:r>
              <a:rPr dirty="0" sz="165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100">
                <a:solidFill>
                  <a:srgbClr val="333333"/>
                </a:solidFill>
                <a:latin typeface="Montserrat"/>
                <a:cs typeface="Montserrat"/>
              </a:rPr>
              <a:t>to</a:t>
            </a:r>
            <a:r>
              <a:rPr dirty="0" sz="165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90">
                <a:solidFill>
                  <a:srgbClr val="333333"/>
                </a:solidFill>
                <a:latin typeface="Montserrat"/>
                <a:cs typeface="Montserrat"/>
              </a:rPr>
              <a:t>the</a:t>
            </a:r>
            <a:r>
              <a:rPr dirty="0" sz="165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100">
                <a:solidFill>
                  <a:srgbClr val="333333"/>
                </a:solidFill>
                <a:latin typeface="Montserrat"/>
                <a:cs typeface="Montserrat"/>
              </a:rPr>
              <a:t>process</a:t>
            </a:r>
            <a:r>
              <a:rPr dirty="0" sz="165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90">
                <a:solidFill>
                  <a:srgbClr val="333333"/>
                </a:solidFill>
                <a:latin typeface="Montserrat"/>
                <a:cs typeface="Montserrat"/>
              </a:rPr>
              <a:t>that</a:t>
            </a:r>
            <a:r>
              <a:rPr dirty="0" sz="165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110">
                <a:solidFill>
                  <a:srgbClr val="333333"/>
                </a:solidFill>
                <a:latin typeface="Montserrat"/>
                <a:cs typeface="Montserrat"/>
              </a:rPr>
              <a:t>powers</a:t>
            </a:r>
            <a:r>
              <a:rPr dirty="0" sz="165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60">
                <a:solidFill>
                  <a:srgbClr val="333333"/>
                </a:solidFill>
                <a:latin typeface="Montserrat"/>
                <a:cs typeface="Montserrat"/>
              </a:rPr>
              <a:t>life</a:t>
            </a:r>
            <a:r>
              <a:rPr dirty="0" sz="165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100">
                <a:solidFill>
                  <a:srgbClr val="333333"/>
                </a:solidFill>
                <a:latin typeface="Montserrat"/>
                <a:cs typeface="Montserrat"/>
              </a:rPr>
              <a:t>on</a:t>
            </a:r>
            <a:r>
              <a:rPr dirty="0" sz="165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65">
                <a:solidFill>
                  <a:srgbClr val="333333"/>
                </a:solidFill>
                <a:latin typeface="Montserrat"/>
                <a:cs typeface="Montserrat"/>
              </a:rPr>
              <a:t>Earth.</a:t>
            </a:r>
            <a:endParaRPr sz="1650">
              <a:latin typeface="Montserrat"/>
              <a:cs typeface="Montserra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4750" y="2914650"/>
            <a:ext cx="4762499" cy="318134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939704" y="6160839"/>
            <a:ext cx="2312670" cy="252729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450" spc="-80">
                <a:solidFill>
                  <a:srgbClr val="545454"/>
                </a:solidFill>
                <a:latin typeface="Montserrat"/>
                <a:cs typeface="Montserrat"/>
              </a:rPr>
              <a:t>Presented</a:t>
            </a:r>
            <a:r>
              <a:rPr dirty="0" sz="1450" spc="10">
                <a:solidFill>
                  <a:srgbClr val="545454"/>
                </a:solidFill>
                <a:latin typeface="Montserrat"/>
                <a:cs typeface="Montserrat"/>
              </a:rPr>
              <a:t> </a:t>
            </a:r>
            <a:r>
              <a:rPr dirty="0" sz="1450" spc="-60">
                <a:solidFill>
                  <a:srgbClr val="545454"/>
                </a:solidFill>
                <a:latin typeface="Montserrat"/>
                <a:cs typeface="Montserrat"/>
              </a:rPr>
              <a:t>by:</a:t>
            </a:r>
            <a:r>
              <a:rPr dirty="0" sz="1450" spc="10">
                <a:solidFill>
                  <a:srgbClr val="545454"/>
                </a:solidFill>
                <a:latin typeface="Montserrat"/>
                <a:cs typeface="Montserrat"/>
              </a:rPr>
              <a:t> </a:t>
            </a:r>
            <a:r>
              <a:rPr dirty="0" sz="1450" spc="-75">
                <a:solidFill>
                  <a:srgbClr val="545454"/>
                </a:solidFill>
                <a:latin typeface="Montserrat"/>
                <a:cs typeface="Montserrat"/>
              </a:rPr>
              <a:t>[Your</a:t>
            </a:r>
            <a:r>
              <a:rPr dirty="0" sz="1450" spc="10">
                <a:solidFill>
                  <a:srgbClr val="545454"/>
                </a:solidFill>
                <a:latin typeface="Montserrat"/>
                <a:cs typeface="Montserrat"/>
              </a:rPr>
              <a:t> </a:t>
            </a:r>
            <a:r>
              <a:rPr dirty="0" sz="1450" spc="-45">
                <a:solidFill>
                  <a:srgbClr val="545454"/>
                </a:solidFill>
                <a:latin typeface="Montserrat"/>
                <a:cs typeface="Montserrat"/>
              </a:rPr>
              <a:t>Name]</a:t>
            </a:r>
            <a:endParaRPr sz="1450">
              <a:latin typeface="Montserrat"/>
              <a:cs typeface="Montserra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91397" y="6427342"/>
            <a:ext cx="1409065" cy="218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30">
                <a:solidFill>
                  <a:srgbClr val="545454"/>
                </a:solidFill>
                <a:latin typeface="Montserrat"/>
                <a:cs typeface="Montserrat"/>
              </a:rPr>
              <a:t>Date: </a:t>
            </a:r>
            <a:r>
              <a:rPr dirty="0" sz="1250" spc="-25">
                <a:solidFill>
                  <a:srgbClr val="545454"/>
                </a:solidFill>
                <a:latin typeface="Montserrat"/>
                <a:cs typeface="Montserrat"/>
              </a:rPr>
              <a:t>[Insert</a:t>
            </a:r>
            <a:r>
              <a:rPr dirty="0" sz="1250" spc="-30">
                <a:solidFill>
                  <a:srgbClr val="545454"/>
                </a:solidFill>
                <a:latin typeface="Montserrat"/>
                <a:cs typeface="Montserrat"/>
              </a:rPr>
              <a:t> </a:t>
            </a:r>
            <a:r>
              <a:rPr dirty="0" sz="1250" spc="-20">
                <a:solidFill>
                  <a:srgbClr val="545454"/>
                </a:solidFill>
                <a:latin typeface="Montserrat"/>
                <a:cs typeface="Montserrat"/>
              </a:rPr>
              <a:t>Date]</a:t>
            </a:r>
            <a:endParaRPr sz="1250">
              <a:latin typeface="Montserrat"/>
              <a:cs typeface="Montserrat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0401299" y="6438899"/>
            <a:ext cx="1600200" cy="323850"/>
            <a:chOff x="10401299" y="6438899"/>
            <a:chExt cx="1600200" cy="323850"/>
          </a:xfrm>
        </p:grpSpPr>
        <p:sp>
          <p:nvSpPr>
            <p:cNvPr id="8" name="object 8" descr=""/>
            <p:cNvSpPr/>
            <p:nvPr/>
          </p:nvSpPr>
          <p:spPr>
            <a:xfrm>
              <a:off x="10401299" y="6438899"/>
              <a:ext cx="1600200" cy="323850"/>
            </a:xfrm>
            <a:custGeom>
              <a:avLst/>
              <a:gdLst/>
              <a:ahLst/>
              <a:cxnLst/>
              <a:rect l="l" t="t" r="r" b="b"/>
              <a:pathLst>
                <a:path w="1600200" h="323850">
                  <a:moveTo>
                    <a:pt x="15671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567152" y="0"/>
                  </a:lnTo>
                  <a:lnTo>
                    <a:pt x="1599233" y="28187"/>
                  </a:lnTo>
                  <a:lnTo>
                    <a:pt x="1600199" y="33047"/>
                  </a:lnTo>
                  <a:lnTo>
                    <a:pt x="1600199" y="290802"/>
                  </a:lnTo>
                  <a:lnTo>
                    <a:pt x="1572012" y="322883"/>
                  </a:lnTo>
                  <a:lnTo>
                    <a:pt x="15671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15599" y="6534149"/>
              <a:ext cx="133349" cy="133349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0689232" y="6500113"/>
            <a:ext cx="1210945" cy="177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 spc="-80">
                <a:solidFill>
                  <a:srgbClr val="FFFFFF"/>
                </a:solidFill>
                <a:latin typeface="Montserrat"/>
                <a:cs typeface="Montserrat"/>
              </a:rPr>
              <a:t>Made</a:t>
            </a:r>
            <a:r>
              <a:rPr dirty="0" sz="1000" spc="-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000" spc="-60">
                <a:solidFill>
                  <a:srgbClr val="FFFFFF"/>
                </a:solidFill>
                <a:latin typeface="Montserrat"/>
                <a:cs typeface="Montserrat"/>
              </a:rPr>
              <a:t>with</a:t>
            </a:r>
            <a:r>
              <a:rPr dirty="0" sz="1000" spc="-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Montserrat"/>
                <a:cs typeface="Montserrat"/>
              </a:rPr>
              <a:t>Genspark</a:t>
            </a:r>
            <a:endParaRPr sz="10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300"/>
              <a:t>What</a:t>
            </a:r>
            <a:r>
              <a:rPr dirty="0" spc="-100"/>
              <a:t> </a:t>
            </a:r>
            <a:r>
              <a:rPr dirty="0" spc="-185"/>
              <a:t>is</a:t>
            </a:r>
            <a:r>
              <a:rPr dirty="0" spc="-100"/>
              <a:t> </a:t>
            </a:r>
            <a:r>
              <a:rPr dirty="0" spc="-235"/>
              <a:t>Photosynthesis?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09599" y="2686049"/>
            <a:ext cx="5334000" cy="571500"/>
            <a:chOff x="609599" y="2686049"/>
            <a:chExt cx="5334000" cy="571500"/>
          </a:xfrm>
        </p:grpSpPr>
        <p:sp>
          <p:nvSpPr>
            <p:cNvPr id="4" name="object 4" descr=""/>
            <p:cNvSpPr/>
            <p:nvPr/>
          </p:nvSpPr>
          <p:spPr>
            <a:xfrm>
              <a:off x="628649" y="2686049"/>
              <a:ext cx="5314950" cy="571500"/>
            </a:xfrm>
            <a:custGeom>
              <a:avLst/>
              <a:gdLst/>
              <a:ahLst/>
              <a:cxnLst/>
              <a:rect l="l" t="t" r="r" b="b"/>
              <a:pathLst>
                <a:path w="5314950" h="571500">
                  <a:moveTo>
                    <a:pt x="5261552" y="571499"/>
                  </a:moveTo>
                  <a:lnTo>
                    <a:pt x="33047" y="571499"/>
                  </a:lnTo>
                  <a:lnTo>
                    <a:pt x="4833" y="543221"/>
                  </a:lnTo>
                  <a:lnTo>
                    <a:pt x="0" y="521928"/>
                  </a:lnTo>
                  <a:lnTo>
                    <a:pt x="0" y="5143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261552" y="0"/>
                  </a:lnTo>
                  <a:lnTo>
                    <a:pt x="5300863" y="19392"/>
                  </a:lnTo>
                  <a:lnTo>
                    <a:pt x="5314949" y="53397"/>
                  </a:lnTo>
                  <a:lnTo>
                    <a:pt x="5314949" y="518102"/>
                  </a:lnTo>
                  <a:lnTo>
                    <a:pt x="5295556" y="557414"/>
                  </a:lnTo>
                  <a:lnTo>
                    <a:pt x="5265268" y="571134"/>
                  </a:lnTo>
                  <a:lnTo>
                    <a:pt x="5261552" y="571499"/>
                  </a:lnTo>
                  <a:close/>
                </a:path>
              </a:pathLst>
            </a:custGeom>
            <a:solidFill>
              <a:srgbClr val="2D8B4A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9599" y="2686049"/>
              <a:ext cx="52069" cy="571500"/>
            </a:xfrm>
            <a:custGeom>
              <a:avLst/>
              <a:gdLst/>
              <a:ahLst/>
              <a:cxnLst/>
              <a:rect l="l" t="t" r="r" b="b"/>
              <a:pathLst>
                <a:path w="52070" h="571500">
                  <a:moveTo>
                    <a:pt x="51889" y="571499"/>
                  </a:moveTo>
                  <a:lnTo>
                    <a:pt x="49571" y="571499"/>
                  </a:lnTo>
                  <a:lnTo>
                    <a:pt x="42281" y="570049"/>
                  </a:lnTo>
                  <a:lnTo>
                    <a:pt x="7250" y="543222"/>
                  </a:lnTo>
                  <a:lnTo>
                    <a:pt x="0" y="521928"/>
                  </a:lnTo>
                  <a:lnTo>
                    <a:pt x="0" y="49571"/>
                  </a:lnTo>
                  <a:lnTo>
                    <a:pt x="22097" y="11380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514350"/>
                  </a:lnTo>
                  <a:lnTo>
                    <a:pt x="43679" y="554761"/>
                  </a:lnTo>
                  <a:lnTo>
                    <a:pt x="47399" y="565920"/>
                  </a:lnTo>
                  <a:lnTo>
                    <a:pt x="51889" y="571499"/>
                  </a:lnTo>
                  <a:close/>
                </a:path>
              </a:pathLst>
            </a:custGeom>
            <a:solidFill>
              <a:srgbClr val="2D8B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96899" y="1139189"/>
            <a:ext cx="5345430" cy="81280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40"/>
              </a:spcBef>
            </a:pPr>
            <a:r>
              <a:rPr dirty="0" sz="1650" spc="-90">
                <a:solidFill>
                  <a:srgbClr val="333333"/>
                </a:solidFill>
                <a:latin typeface="Montserrat"/>
                <a:cs typeface="Montserrat"/>
              </a:rPr>
              <a:t>Photosynthesis</a:t>
            </a:r>
            <a:r>
              <a:rPr dirty="0" sz="16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55">
                <a:solidFill>
                  <a:srgbClr val="333333"/>
                </a:solidFill>
                <a:latin typeface="Montserrat"/>
                <a:cs typeface="Montserrat"/>
              </a:rPr>
              <a:t>is</a:t>
            </a:r>
            <a:r>
              <a:rPr dirty="0" sz="16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90">
                <a:solidFill>
                  <a:srgbClr val="333333"/>
                </a:solidFill>
                <a:latin typeface="Montserrat"/>
                <a:cs typeface="Montserrat"/>
              </a:rPr>
              <a:t>the</a:t>
            </a:r>
            <a:r>
              <a:rPr dirty="0" sz="16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100">
                <a:solidFill>
                  <a:srgbClr val="333333"/>
                </a:solidFill>
                <a:latin typeface="Montserrat"/>
                <a:cs typeface="Montserrat"/>
              </a:rPr>
              <a:t>process</a:t>
            </a:r>
            <a:r>
              <a:rPr dirty="0" sz="16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114">
                <a:solidFill>
                  <a:srgbClr val="333333"/>
                </a:solidFill>
                <a:latin typeface="Montserrat"/>
                <a:cs typeface="Montserrat"/>
              </a:rPr>
              <a:t>by</a:t>
            </a:r>
            <a:r>
              <a:rPr dirty="0" sz="16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105">
                <a:solidFill>
                  <a:srgbClr val="333333"/>
                </a:solidFill>
                <a:latin typeface="Montserrat"/>
                <a:cs typeface="Montserrat"/>
              </a:rPr>
              <a:t>which</a:t>
            </a:r>
            <a:r>
              <a:rPr dirty="0" sz="16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100">
                <a:solidFill>
                  <a:srgbClr val="333333"/>
                </a:solidFill>
                <a:latin typeface="Montserrat"/>
                <a:cs typeface="Montserrat"/>
              </a:rPr>
              <a:t>green</a:t>
            </a:r>
            <a:r>
              <a:rPr dirty="0" sz="1650" spc="-10">
                <a:solidFill>
                  <a:srgbClr val="333333"/>
                </a:solidFill>
                <a:latin typeface="Montserrat"/>
                <a:cs typeface="Montserrat"/>
              </a:rPr>
              <a:t> plants, </a:t>
            </a:r>
            <a:r>
              <a:rPr dirty="0" sz="1650" spc="-80">
                <a:solidFill>
                  <a:srgbClr val="333333"/>
                </a:solidFill>
                <a:latin typeface="Montserrat"/>
                <a:cs typeface="Montserrat"/>
              </a:rPr>
              <a:t>algae,</a:t>
            </a:r>
            <a:r>
              <a:rPr dirty="0" sz="165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105">
                <a:solidFill>
                  <a:srgbClr val="333333"/>
                </a:solidFill>
                <a:latin typeface="Montserrat"/>
                <a:cs typeface="Montserrat"/>
              </a:rPr>
              <a:t>and</a:t>
            </a:r>
            <a:r>
              <a:rPr dirty="0" sz="165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114">
                <a:solidFill>
                  <a:srgbClr val="333333"/>
                </a:solidFill>
                <a:latin typeface="Montserrat"/>
                <a:cs typeface="Montserrat"/>
              </a:rPr>
              <a:t>some</a:t>
            </a:r>
            <a:r>
              <a:rPr dirty="0" sz="165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95">
                <a:solidFill>
                  <a:srgbClr val="333333"/>
                </a:solidFill>
                <a:latin typeface="Montserrat"/>
                <a:cs typeface="Montserrat"/>
              </a:rPr>
              <a:t>bacteria</a:t>
            </a:r>
            <a:r>
              <a:rPr dirty="0" sz="165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700" spc="-140" b="1">
                <a:solidFill>
                  <a:srgbClr val="333333"/>
                </a:solidFill>
                <a:latin typeface="Montserrat SemiBold"/>
                <a:cs typeface="Montserrat SemiBold"/>
              </a:rPr>
              <a:t>use</a:t>
            </a:r>
            <a:r>
              <a:rPr dirty="0" sz="1700" spc="-35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700" spc="-114" b="1">
                <a:solidFill>
                  <a:srgbClr val="333333"/>
                </a:solidFill>
                <a:latin typeface="Montserrat SemiBold"/>
                <a:cs typeface="Montserrat SemiBold"/>
              </a:rPr>
              <a:t>sunlight</a:t>
            </a:r>
            <a:r>
              <a:rPr dirty="0" sz="1700" spc="-35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700" spc="-130" b="1">
                <a:solidFill>
                  <a:srgbClr val="333333"/>
                </a:solidFill>
                <a:latin typeface="Montserrat SemiBold"/>
                <a:cs typeface="Montserrat SemiBold"/>
              </a:rPr>
              <a:t>to</a:t>
            </a:r>
            <a:r>
              <a:rPr dirty="0" sz="1700" spc="-30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700" spc="-125" b="1">
                <a:solidFill>
                  <a:srgbClr val="333333"/>
                </a:solidFill>
                <a:latin typeface="Montserrat SemiBold"/>
                <a:cs typeface="Montserrat SemiBold"/>
              </a:rPr>
              <a:t>convert</a:t>
            </a:r>
            <a:r>
              <a:rPr dirty="0" sz="1700" spc="-35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700" spc="-120" b="1">
                <a:solidFill>
                  <a:srgbClr val="333333"/>
                </a:solidFill>
                <a:latin typeface="Montserrat SemiBold"/>
                <a:cs typeface="Montserrat SemiBold"/>
              </a:rPr>
              <a:t>water </a:t>
            </a:r>
            <a:r>
              <a:rPr dirty="0" sz="1700" spc="-140" b="1">
                <a:solidFill>
                  <a:srgbClr val="333333"/>
                </a:solidFill>
                <a:latin typeface="Montserrat SemiBold"/>
                <a:cs typeface="Montserrat SemiBold"/>
              </a:rPr>
              <a:t>and</a:t>
            </a:r>
            <a:r>
              <a:rPr dirty="0" sz="1700" spc="-40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700" spc="-135" b="1">
                <a:solidFill>
                  <a:srgbClr val="333333"/>
                </a:solidFill>
                <a:latin typeface="Montserrat SemiBold"/>
                <a:cs typeface="Montserrat SemiBold"/>
              </a:rPr>
              <a:t>carbon</a:t>
            </a:r>
            <a:r>
              <a:rPr dirty="0" sz="1700" spc="-35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700" spc="-120" b="1">
                <a:solidFill>
                  <a:srgbClr val="333333"/>
                </a:solidFill>
                <a:latin typeface="Montserrat SemiBold"/>
                <a:cs typeface="Montserrat SemiBold"/>
              </a:rPr>
              <a:t>dioxide</a:t>
            </a:r>
            <a:r>
              <a:rPr dirty="0" sz="1700" spc="-60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650" spc="-90">
                <a:solidFill>
                  <a:srgbClr val="333333"/>
                </a:solidFill>
                <a:latin typeface="Montserrat"/>
                <a:cs typeface="Montserrat"/>
              </a:rPr>
              <a:t>into</a:t>
            </a:r>
            <a:r>
              <a:rPr dirty="0" sz="165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95">
                <a:solidFill>
                  <a:srgbClr val="333333"/>
                </a:solidFill>
                <a:latin typeface="Montserrat"/>
                <a:cs typeface="Montserrat"/>
              </a:rPr>
              <a:t>food</a:t>
            </a:r>
            <a:r>
              <a:rPr dirty="0" sz="1650" spc="-2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80">
                <a:solidFill>
                  <a:srgbClr val="333333"/>
                </a:solidFill>
                <a:latin typeface="Montserrat"/>
                <a:cs typeface="Montserrat"/>
              </a:rPr>
              <a:t>(glucose)</a:t>
            </a:r>
            <a:r>
              <a:rPr dirty="0" sz="165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105">
                <a:solidFill>
                  <a:srgbClr val="333333"/>
                </a:solidFill>
                <a:latin typeface="Montserrat"/>
                <a:cs typeface="Montserrat"/>
              </a:rPr>
              <a:t>and</a:t>
            </a:r>
            <a:r>
              <a:rPr dirty="0" sz="1650" spc="-2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650" spc="-10">
                <a:solidFill>
                  <a:srgbClr val="333333"/>
                </a:solidFill>
                <a:latin typeface="Montserrat"/>
                <a:cs typeface="Montserrat"/>
              </a:rPr>
              <a:t>oxygen.</a:t>
            </a:r>
            <a:endParaRPr sz="1650">
              <a:latin typeface="Montserrat"/>
              <a:cs typeface="Montserra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6899" y="2230627"/>
            <a:ext cx="5020310" cy="13506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-90">
                <a:solidFill>
                  <a:srgbClr val="047857"/>
                </a:solidFill>
                <a:latin typeface="Montserrat"/>
                <a:cs typeface="Montserrat"/>
              </a:rPr>
              <a:t>Photosynthesis</a:t>
            </a:r>
            <a:r>
              <a:rPr dirty="0" sz="1950" spc="-5">
                <a:solidFill>
                  <a:srgbClr val="047857"/>
                </a:solidFill>
                <a:latin typeface="Montserrat"/>
                <a:cs typeface="Montserrat"/>
              </a:rPr>
              <a:t> </a:t>
            </a:r>
            <a:r>
              <a:rPr dirty="0" sz="1950" spc="-10">
                <a:solidFill>
                  <a:srgbClr val="047857"/>
                </a:solidFill>
                <a:latin typeface="Montserrat"/>
                <a:cs typeface="Montserrat"/>
              </a:rPr>
              <a:t>Equation:</a:t>
            </a:r>
            <a:endParaRPr sz="1950">
              <a:latin typeface="Montserrat"/>
              <a:cs typeface="Montserrat"/>
            </a:endParaRPr>
          </a:p>
          <a:p>
            <a:pPr marL="203200">
              <a:lnSpc>
                <a:spcPct val="100000"/>
              </a:lnSpc>
              <a:spcBef>
                <a:spcPts val="2235"/>
              </a:spcBef>
            </a:pPr>
            <a:r>
              <a:rPr dirty="0" sz="1500" b="1">
                <a:solidFill>
                  <a:srgbClr val="333333"/>
                </a:solidFill>
                <a:latin typeface="Liberation Mono"/>
                <a:cs typeface="Liberation Mono"/>
              </a:rPr>
              <a:t>6CO</a:t>
            </a:r>
            <a:r>
              <a:rPr dirty="0" sz="1500" b="1">
                <a:solidFill>
                  <a:srgbClr val="333333"/>
                </a:solidFill>
                <a:latin typeface="DejaVu Sans Mono"/>
                <a:cs typeface="DejaVu Sans Mono"/>
              </a:rPr>
              <a:t>₂</a:t>
            </a:r>
            <a:r>
              <a:rPr dirty="0" sz="1500" spc="-5" b="1">
                <a:solidFill>
                  <a:srgbClr val="333333"/>
                </a:solidFill>
                <a:latin typeface="DejaVu Sans Mono"/>
                <a:cs typeface="DejaVu Sans Mono"/>
              </a:rPr>
              <a:t> </a:t>
            </a:r>
            <a:r>
              <a:rPr dirty="0" sz="1500" b="1">
                <a:solidFill>
                  <a:srgbClr val="333333"/>
                </a:solidFill>
                <a:latin typeface="Liberation Mono"/>
                <a:cs typeface="Liberation Mono"/>
              </a:rPr>
              <a:t>+ 6H</a:t>
            </a:r>
            <a:r>
              <a:rPr dirty="0" sz="1500" b="1">
                <a:solidFill>
                  <a:srgbClr val="333333"/>
                </a:solidFill>
                <a:latin typeface="DejaVu Sans Mono"/>
                <a:cs typeface="DejaVu Sans Mono"/>
              </a:rPr>
              <a:t>₂</a:t>
            </a:r>
            <a:r>
              <a:rPr dirty="0" sz="1500" b="1">
                <a:solidFill>
                  <a:srgbClr val="333333"/>
                </a:solidFill>
                <a:latin typeface="Liberation Mono"/>
                <a:cs typeface="Liberation Mono"/>
              </a:rPr>
              <a:t>O + light energy → C</a:t>
            </a:r>
            <a:r>
              <a:rPr dirty="0" sz="1500" b="1">
                <a:solidFill>
                  <a:srgbClr val="333333"/>
                </a:solidFill>
                <a:latin typeface="DejaVu Sans Mono"/>
                <a:cs typeface="DejaVu Sans Mono"/>
              </a:rPr>
              <a:t>₆</a:t>
            </a:r>
            <a:r>
              <a:rPr dirty="0" sz="1500" b="1">
                <a:solidFill>
                  <a:srgbClr val="333333"/>
                </a:solidFill>
                <a:latin typeface="Liberation Mono"/>
                <a:cs typeface="Liberation Mono"/>
              </a:rPr>
              <a:t>H</a:t>
            </a:r>
            <a:r>
              <a:rPr dirty="0" sz="1500" b="1">
                <a:solidFill>
                  <a:srgbClr val="333333"/>
                </a:solidFill>
                <a:latin typeface="DejaVu Sans Mono"/>
                <a:cs typeface="DejaVu Sans Mono"/>
              </a:rPr>
              <a:t>₁₂</a:t>
            </a:r>
            <a:r>
              <a:rPr dirty="0" sz="1500" b="1">
                <a:solidFill>
                  <a:srgbClr val="333333"/>
                </a:solidFill>
                <a:latin typeface="Liberation Mono"/>
                <a:cs typeface="Liberation Mono"/>
              </a:rPr>
              <a:t>O</a:t>
            </a:r>
            <a:r>
              <a:rPr dirty="0" sz="1500" b="1">
                <a:solidFill>
                  <a:srgbClr val="333333"/>
                </a:solidFill>
                <a:latin typeface="DejaVu Sans Mono"/>
                <a:cs typeface="DejaVu Sans Mono"/>
              </a:rPr>
              <a:t>₆</a:t>
            </a:r>
            <a:r>
              <a:rPr dirty="0" sz="1500" spc="-5" b="1">
                <a:solidFill>
                  <a:srgbClr val="333333"/>
                </a:solidFill>
                <a:latin typeface="DejaVu Sans Mono"/>
                <a:cs typeface="DejaVu Sans Mono"/>
              </a:rPr>
              <a:t> </a:t>
            </a:r>
            <a:r>
              <a:rPr dirty="0" sz="1500" b="1">
                <a:solidFill>
                  <a:srgbClr val="333333"/>
                </a:solidFill>
                <a:latin typeface="Liberation Mono"/>
                <a:cs typeface="Liberation Mono"/>
              </a:rPr>
              <a:t>+ </a:t>
            </a:r>
            <a:r>
              <a:rPr dirty="0" sz="1500" spc="-25" b="1">
                <a:solidFill>
                  <a:srgbClr val="333333"/>
                </a:solidFill>
                <a:latin typeface="Liberation Mono"/>
                <a:cs typeface="Liberation Mono"/>
              </a:rPr>
              <a:t>6O</a:t>
            </a:r>
            <a:r>
              <a:rPr dirty="0" sz="1500" spc="-25" b="1">
                <a:solidFill>
                  <a:srgbClr val="333333"/>
                </a:solidFill>
                <a:latin typeface="DejaVu Sans Mono"/>
                <a:cs typeface="DejaVu Sans Mono"/>
              </a:rPr>
              <a:t>₂</a:t>
            </a:r>
            <a:endParaRPr sz="1500">
              <a:latin typeface="DejaVu Sans Mono"/>
              <a:cs typeface="DejaVu Sans Mono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500">
              <a:latin typeface="DejaVu Sans Mono"/>
              <a:cs typeface="DejaVu Sans Mon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20" i="1">
                <a:solidFill>
                  <a:srgbClr val="4A5462"/>
                </a:solidFill>
                <a:latin typeface="Century Gothic"/>
                <a:cs typeface="Century Gothic"/>
              </a:rPr>
              <a:t>Carbon</a:t>
            </a:r>
            <a:r>
              <a:rPr dirty="0" sz="1350" spc="-55" i="1">
                <a:solidFill>
                  <a:srgbClr val="4A5462"/>
                </a:solidFill>
                <a:latin typeface="Century Gothic"/>
                <a:cs typeface="Century Gothic"/>
              </a:rPr>
              <a:t> </a:t>
            </a:r>
            <a:r>
              <a:rPr dirty="0" sz="1350" spc="-65" i="1">
                <a:solidFill>
                  <a:srgbClr val="4A5462"/>
                </a:solidFill>
                <a:latin typeface="Century Gothic"/>
                <a:cs typeface="Century Gothic"/>
              </a:rPr>
              <a:t>dioxide</a:t>
            </a:r>
            <a:r>
              <a:rPr dirty="0" sz="1350" spc="-50" i="1">
                <a:solidFill>
                  <a:srgbClr val="4A5462"/>
                </a:solidFill>
                <a:latin typeface="Century Gothic"/>
                <a:cs typeface="Century Gothic"/>
              </a:rPr>
              <a:t> </a:t>
            </a:r>
            <a:r>
              <a:rPr dirty="0" sz="1350" spc="-130" i="1">
                <a:solidFill>
                  <a:srgbClr val="4A5462"/>
                </a:solidFill>
                <a:latin typeface="Century Gothic"/>
                <a:cs typeface="Century Gothic"/>
              </a:rPr>
              <a:t>+</a:t>
            </a:r>
            <a:r>
              <a:rPr dirty="0" sz="1350" spc="-50" i="1">
                <a:solidFill>
                  <a:srgbClr val="4A5462"/>
                </a:solidFill>
                <a:latin typeface="Century Gothic"/>
                <a:cs typeface="Century Gothic"/>
              </a:rPr>
              <a:t> </a:t>
            </a:r>
            <a:r>
              <a:rPr dirty="0" sz="1350" spc="-70" i="1">
                <a:solidFill>
                  <a:srgbClr val="4A5462"/>
                </a:solidFill>
                <a:latin typeface="Century Gothic"/>
                <a:cs typeface="Century Gothic"/>
              </a:rPr>
              <a:t>Water</a:t>
            </a:r>
            <a:r>
              <a:rPr dirty="0" sz="1350" spc="-50" i="1">
                <a:solidFill>
                  <a:srgbClr val="4A5462"/>
                </a:solidFill>
                <a:latin typeface="Century Gothic"/>
                <a:cs typeface="Century Gothic"/>
              </a:rPr>
              <a:t> </a:t>
            </a:r>
            <a:r>
              <a:rPr dirty="0" sz="1350" spc="-130" i="1">
                <a:solidFill>
                  <a:srgbClr val="4A5462"/>
                </a:solidFill>
                <a:latin typeface="Century Gothic"/>
                <a:cs typeface="Century Gothic"/>
              </a:rPr>
              <a:t>+</a:t>
            </a:r>
            <a:r>
              <a:rPr dirty="0" sz="1350" spc="-50" i="1">
                <a:solidFill>
                  <a:srgbClr val="4A5462"/>
                </a:solidFill>
                <a:latin typeface="Century Gothic"/>
                <a:cs typeface="Century Gothic"/>
              </a:rPr>
              <a:t> </a:t>
            </a:r>
            <a:r>
              <a:rPr dirty="0" sz="1350" i="1">
                <a:solidFill>
                  <a:srgbClr val="4A5462"/>
                </a:solidFill>
                <a:latin typeface="Century Gothic"/>
                <a:cs typeface="Century Gothic"/>
              </a:rPr>
              <a:t>Sunlight</a:t>
            </a:r>
            <a:r>
              <a:rPr dirty="0" sz="1350" spc="-50" i="1">
                <a:solidFill>
                  <a:srgbClr val="4A5462"/>
                </a:solidFill>
                <a:latin typeface="Century Gothic"/>
                <a:cs typeface="Century Gothic"/>
              </a:rPr>
              <a:t> </a:t>
            </a:r>
            <a:r>
              <a:rPr dirty="0" sz="1200" i="1">
                <a:solidFill>
                  <a:srgbClr val="4A5462"/>
                </a:solidFill>
                <a:latin typeface="Liberation Sans"/>
                <a:cs typeface="Liberation Sans"/>
              </a:rPr>
              <a:t>→</a:t>
            </a:r>
            <a:r>
              <a:rPr dirty="0" sz="1200" spc="-15" i="1">
                <a:solidFill>
                  <a:srgbClr val="4A5462"/>
                </a:solidFill>
                <a:latin typeface="Liberation Sans"/>
                <a:cs typeface="Liberation Sans"/>
              </a:rPr>
              <a:t> </a:t>
            </a:r>
            <a:r>
              <a:rPr dirty="0" sz="1350" spc="-100" i="1">
                <a:solidFill>
                  <a:srgbClr val="4A5462"/>
                </a:solidFill>
                <a:latin typeface="Century Gothic"/>
                <a:cs typeface="Century Gothic"/>
              </a:rPr>
              <a:t>Glucose</a:t>
            </a:r>
            <a:r>
              <a:rPr dirty="0" sz="1350" spc="-50" i="1">
                <a:solidFill>
                  <a:srgbClr val="4A5462"/>
                </a:solidFill>
                <a:latin typeface="Century Gothic"/>
                <a:cs typeface="Century Gothic"/>
              </a:rPr>
              <a:t> </a:t>
            </a:r>
            <a:r>
              <a:rPr dirty="0" sz="1350" spc="-130" i="1">
                <a:solidFill>
                  <a:srgbClr val="4A5462"/>
                </a:solidFill>
                <a:latin typeface="Century Gothic"/>
                <a:cs typeface="Century Gothic"/>
              </a:rPr>
              <a:t>+</a:t>
            </a:r>
            <a:r>
              <a:rPr dirty="0" sz="1350" spc="-50" i="1">
                <a:solidFill>
                  <a:srgbClr val="4A5462"/>
                </a:solidFill>
                <a:latin typeface="Century Gothic"/>
                <a:cs typeface="Century Gothic"/>
              </a:rPr>
              <a:t> </a:t>
            </a:r>
            <a:r>
              <a:rPr dirty="0" sz="1350" spc="-10" i="1">
                <a:solidFill>
                  <a:srgbClr val="4A5462"/>
                </a:solidFill>
                <a:latin typeface="Century Gothic"/>
                <a:cs typeface="Century Gothic"/>
              </a:rPr>
              <a:t>Oxygen</a:t>
            </a:r>
            <a:endParaRPr sz="1350">
              <a:latin typeface="Century Gothic"/>
              <a:cs typeface="Century Gothic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96899" y="4805997"/>
            <a:ext cx="97155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35">
                <a:solidFill>
                  <a:srgbClr val="047857"/>
                </a:solidFill>
                <a:latin typeface="Montserrat"/>
                <a:cs typeface="Montserrat"/>
              </a:rPr>
              <a:t>Key</a:t>
            </a:r>
            <a:r>
              <a:rPr dirty="0" sz="1550" spc="-55">
                <a:solidFill>
                  <a:srgbClr val="047857"/>
                </a:solidFill>
                <a:latin typeface="Montserrat"/>
                <a:cs typeface="Montserrat"/>
              </a:rPr>
              <a:t> </a:t>
            </a:r>
            <a:r>
              <a:rPr dirty="0" sz="1550" spc="-25">
                <a:solidFill>
                  <a:srgbClr val="047857"/>
                </a:solidFill>
                <a:latin typeface="Montserrat"/>
                <a:cs typeface="Montserrat"/>
              </a:rPr>
              <a:t>Facts:</a:t>
            </a:r>
            <a:endParaRPr sz="1550">
              <a:latin typeface="Montserrat"/>
              <a:cs typeface="Montserra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09599" y="5162549"/>
            <a:ext cx="3457575" cy="457200"/>
            <a:chOff x="609599" y="5162549"/>
            <a:chExt cx="3457575" cy="457200"/>
          </a:xfrm>
        </p:grpSpPr>
        <p:sp>
          <p:nvSpPr>
            <p:cNvPr id="10" name="object 10" descr=""/>
            <p:cNvSpPr/>
            <p:nvPr/>
          </p:nvSpPr>
          <p:spPr>
            <a:xfrm>
              <a:off x="609599" y="5162549"/>
              <a:ext cx="3457575" cy="457200"/>
            </a:xfrm>
            <a:custGeom>
              <a:avLst/>
              <a:gdLst/>
              <a:ahLst/>
              <a:cxnLst/>
              <a:rect l="l" t="t" r="r" b="b"/>
              <a:pathLst>
                <a:path w="3457575" h="457200">
                  <a:moveTo>
                    <a:pt x="3404177" y="457199"/>
                  </a:moveTo>
                  <a:lnTo>
                    <a:pt x="53397" y="457199"/>
                  </a:lnTo>
                  <a:lnTo>
                    <a:pt x="49681" y="456833"/>
                  </a:lnTo>
                  <a:lnTo>
                    <a:pt x="14085" y="437807"/>
                  </a:lnTo>
                  <a:lnTo>
                    <a:pt x="0" y="403802"/>
                  </a:lnTo>
                  <a:lnTo>
                    <a:pt x="0" y="400049"/>
                  </a:lnTo>
                  <a:lnTo>
                    <a:pt x="0" y="53397"/>
                  </a:lnTo>
                  <a:lnTo>
                    <a:pt x="19392" y="14084"/>
                  </a:lnTo>
                  <a:lnTo>
                    <a:pt x="53397" y="0"/>
                  </a:lnTo>
                  <a:lnTo>
                    <a:pt x="3404177" y="0"/>
                  </a:lnTo>
                  <a:lnTo>
                    <a:pt x="3443489" y="19391"/>
                  </a:lnTo>
                  <a:lnTo>
                    <a:pt x="3457574" y="53397"/>
                  </a:lnTo>
                  <a:lnTo>
                    <a:pt x="3457574" y="403802"/>
                  </a:lnTo>
                  <a:lnTo>
                    <a:pt x="3438182" y="443114"/>
                  </a:lnTo>
                  <a:lnTo>
                    <a:pt x="3407893" y="456833"/>
                  </a:lnTo>
                  <a:lnTo>
                    <a:pt x="3404177" y="457199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2074" y="5314384"/>
              <a:ext cx="152399" cy="133915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616713" y="5257926"/>
            <a:ext cx="1708785" cy="22732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00" spc="-75">
                <a:latin typeface="Montserrat"/>
                <a:cs typeface="Montserrat"/>
              </a:rPr>
              <a:t>Occurs</a:t>
            </a:r>
            <a:r>
              <a:rPr dirty="0" sz="1300" spc="-10">
                <a:latin typeface="Montserrat"/>
                <a:cs typeface="Montserrat"/>
              </a:rPr>
              <a:t> </a:t>
            </a:r>
            <a:r>
              <a:rPr dirty="0" sz="1300" spc="-50">
                <a:latin typeface="Montserrat"/>
                <a:cs typeface="Montserrat"/>
              </a:rPr>
              <a:t>in</a:t>
            </a:r>
            <a:r>
              <a:rPr dirty="0" sz="1300" spc="-5">
                <a:latin typeface="Montserrat"/>
                <a:cs typeface="Montserrat"/>
              </a:rPr>
              <a:t> </a:t>
            </a:r>
            <a:r>
              <a:rPr dirty="0" sz="1300" spc="-55">
                <a:latin typeface="Montserrat"/>
                <a:cs typeface="Montserrat"/>
              </a:rPr>
              <a:t>chloroplasts</a:t>
            </a:r>
            <a:endParaRPr sz="1300">
              <a:latin typeface="Montserrat"/>
              <a:cs typeface="Montserrat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371974" y="5162549"/>
            <a:ext cx="3448050" cy="457200"/>
            <a:chOff x="4371974" y="5162549"/>
            <a:chExt cx="3448050" cy="457200"/>
          </a:xfrm>
        </p:grpSpPr>
        <p:sp>
          <p:nvSpPr>
            <p:cNvPr id="14" name="object 14" descr=""/>
            <p:cNvSpPr/>
            <p:nvPr/>
          </p:nvSpPr>
          <p:spPr>
            <a:xfrm>
              <a:off x="4371974" y="5162549"/>
              <a:ext cx="3448050" cy="457200"/>
            </a:xfrm>
            <a:custGeom>
              <a:avLst/>
              <a:gdLst/>
              <a:ahLst/>
              <a:cxnLst/>
              <a:rect l="l" t="t" r="r" b="b"/>
              <a:pathLst>
                <a:path w="3448050" h="457200">
                  <a:moveTo>
                    <a:pt x="3394652" y="457199"/>
                  </a:moveTo>
                  <a:lnTo>
                    <a:pt x="53397" y="457199"/>
                  </a:lnTo>
                  <a:lnTo>
                    <a:pt x="49680" y="456833"/>
                  </a:lnTo>
                  <a:lnTo>
                    <a:pt x="14085" y="437807"/>
                  </a:lnTo>
                  <a:lnTo>
                    <a:pt x="0" y="403802"/>
                  </a:lnTo>
                  <a:lnTo>
                    <a:pt x="0" y="400049"/>
                  </a:lnTo>
                  <a:lnTo>
                    <a:pt x="0" y="53397"/>
                  </a:lnTo>
                  <a:lnTo>
                    <a:pt x="19392" y="14084"/>
                  </a:lnTo>
                  <a:lnTo>
                    <a:pt x="53397" y="0"/>
                  </a:lnTo>
                  <a:lnTo>
                    <a:pt x="3394652" y="0"/>
                  </a:lnTo>
                  <a:lnTo>
                    <a:pt x="3433963" y="19391"/>
                  </a:lnTo>
                  <a:lnTo>
                    <a:pt x="3448049" y="53397"/>
                  </a:lnTo>
                  <a:lnTo>
                    <a:pt x="3448049" y="403802"/>
                  </a:lnTo>
                  <a:lnTo>
                    <a:pt x="3428657" y="443114"/>
                  </a:lnTo>
                  <a:lnTo>
                    <a:pt x="3398368" y="456833"/>
                  </a:lnTo>
                  <a:lnTo>
                    <a:pt x="3394652" y="457199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0187" y="5305424"/>
              <a:ext cx="104768" cy="152399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5525683" y="5257926"/>
            <a:ext cx="1371600" cy="22732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00" spc="-70">
                <a:latin typeface="Montserrat"/>
                <a:cs typeface="Montserrat"/>
              </a:rPr>
              <a:t>Requires</a:t>
            </a:r>
            <a:r>
              <a:rPr dirty="0" sz="1300" spc="40">
                <a:latin typeface="Montserrat"/>
                <a:cs typeface="Montserrat"/>
              </a:rPr>
              <a:t> </a:t>
            </a:r>
            <a:r>
              <a:rPr dirty="0" sz="1300" spc="-50">
                <a:latin typeface="Montserrat"/>
                <a:cs typeface="Montserrat"/>
              </a:rPr>
              <a:t>sunlight</a:t>
            </a:r>
            <a:endParaRPr sz="1300">
              <a:latin typeface="Montserrat"/>
              <a:cs typeface="Montserra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8124824" y="5162549"/>
            <a:ext cx="3457575" cy="457200"/>
            <a:chOff x="8124824" y="5162549"/>
            <a:chExt cx="3457575" cy="457200"/>
          </a:xfrm>
        </p:grpSpPr>
        <p:sp>
          <p:nvSpPr>
            <p:cNvPr id="18" name="object 18" descr=""/>
            <p:cNvSpPr/>
            <p:nvPr/>
          </p:nvSpPr>
          <p:spPr>
            <a:xfrm>
              <a:off x="8124824" y="5162549"/>
              <a:ext cx="3457575" cy="457200"/>
            </a:xfrm>
            <a:custGeom>
              <a:avLst/>
              <a:gdLst/>
              <a:ahLst/>
              <a:cxnLst/>
              <a:rect l="l" t="t" r="r" b="b"/>
              <a:pathLst>
                <a:path w="3457575" h="457200">
                  <a:moveTo>
                    <a:pt x="3404176" y="457199"/>
                  </a:moveTo>
                  <a:lnTo>
                    <a:pt x="53397" y="457199"/>
                  </a:lnTo>
                  <a:lnTo>
                    <a:pt x="49680" y="456833"/>
                  </a:lnTo>
                  <a:lnTo>
                    <a:pt x="14084" y="437807"/>
                  </a:lnTo>
                  <a:lnTo>
                    <a:pt x="0" y="403802"/>
                  </a:lnTo>
                  <a:lnTo>
                    <a:pt x="0" y="400049"/>
                  </a:lnTo>
                  <a:lnTo>
                    <a:pt x="0" y="53397"/>
                  </a:lnTo>
                  <a:lnTo>
                    <a:pt x="19391" y="14084"/>
                  </a:lnTo>
                  <a:lnTo>
                    <a:pt x="53397" y="0"/>
                  </a:lnTo>
                  <a:lnTo>
                    <a:pt x="3404176" y="0"/>
                  </a:lnTo>
                  <a:lnTo>
                    <a:pt x="3443488" y="19391"/>
                  </a:lnTo>
                  <a:lnTo>
                    <a:pt x="3457573" y="53397"/>
                  </a:lnTo>
                  <a:lnTo>
                    <a:pt x="3457573" y="403802"/>
                  </a:lnTo>
                  <a:lnTo>
                    <a:pt x="3438181" y="443114"/>
                  </a:lnTo>
                  <a:lnTo>
                    <a:pt x="3407892" y="456833"/>
                  </a:lnTo>
                  <a:lnTo>
                    <a:pt x="3404176" y="457199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6799" y="5305424"/>
              <a:ext cx="133349" cy="152399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8925513" y="5257926"/>
            <a:ext cx="2109470" cy="22732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00" spc="-80">
                <a:latin typeface="Montserrat"/>
                <a:cs typeface="Montserrat"/>
              </a:rPr>
              <a:t>Produces</a:t>
            </a:r>
            <a:r>
              <a:rPr dirty="0" sz="1300" spc="-5">
                <a:latin typeface="Montserrat"/>
                <a:cs typeface="Montserrat"/>
              </a:rPr>
              <a:t> </a:t>
            </a:r>
            <a:r>
              <a:rPr dirty="0" sz="1300" spc="-65">
                <a:latin typeface="Montserrat"/>
                <a:cs typeface="Montserrat"/>
              </a:rPr>
              <a:t>glucose</a:t>
            </a:r>
            <a:r>
              <a:rPr dirty="0" sz="1300">
                <a:latin typeface="Montserrat"/>
                <a:cs typeface="Montserrat"/>
              </a:rPr>
              <a:t> </a:t>
            </a:r>
            <a:r>
              <a:rPr dirty="0" sz="1300" spc="-70">
                <a:latin typeface="Montserrat"/>
                <a:cs typeface="Montserrat"/>
              </a:rPr>
              <a:t>&amp;</a:t>
            </a:r>
            <a:r>
              <a:rPr dirty="0" sz="1300">
                <a:latin typeface="Montserrat"/>
                <a:cs typeface="Montserrat"/>
              </a:rPr>
              <a:t> </a:t>
            </a:r>
            <a:r>
              <a:rPr dirty="0" sz="1300" spc="-60">
                <a:latin typeface="Montserrat"/>
                <a:cs typeface="Montserrat"/>
              </a:rPr>
              <a:t>oxygen</a:t>
            </a:r>
            <a:endParaRPr sz="1300">
              <a:latin typeface="Montserrat"/>
              <a:cs typeface="Montserrat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6724650" y="1162050"/>
            <a:ext cx="4381500" cy="3505200"/>
            <a:chOff x="6724650" y="1162050"/>
            <a:chExt cx="4381500" cy="3505200"/>
          </a:xfrm>
        </p:grpSpPr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24650" y="1162050"/>
              <a:ext cx="4381499" cy="3505199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9515474" y="1238249"/>
              <a:ext cx="1514475" cy="266700"/>
            </a:xfrm>
            <a:custGeom>
              <a:avLst/>
              <a:gdLst/>
              <a:ahLst/>
              <a:cxnLst/>
              <a:rect l="l" t="t" r="r" b="b"/>
              <a:pathLst>
                <a:path w="1514475" h="266700">
                  <a:moveTo>
                    <a:pt x="1381124" y="266699"/>
                  </a:moveTo>
                  <a:lnTo>
                    <a:pt x="133349" y="266699"/>
                  </a:lnTo>
                  <a:lnTo>
                    <a:pt x="126798" y="266539"/>
                  </a:lnTo>
                  <a:lnTo>
                    <a:pt x="88431" y="258908"/>
                  </a:lnTo>
                  <a:lnTo>
                    <a:pt x="53906" y="240453"/>
                  </a:lnTo>
                  <a:lnTo>
                    <a:pt x="26245" y="212793"/>
                  </a:lnTo>
                  <a:lnTo>
                    <a:pt x="7790" y="178266"/>
                  </a:lnTo>
                  <a:lnTo>
                    <a:pt x="159" y="139901"/>
                  </a:lnTo>
                  <a:lnTo>
                    <a:pt x="0" y="133349"/>
                  </a:lnTo>
                  <a:lnTo>
                    <a:pt x="159" y="126798"/>
                  </a:lnTo>
                  <a:lnTo>
                    <a:pt x="7790" y="88432"/>
                  </a:lnTo>
                  <a:lnTo>
                    <a:pt x="26245" y="53906"/>
                  </a:lnTo>
                  <a:lnTo>
                    <a:pt x="53905" y="26246"/>
                  </a:lnTo>
                  <a:lnTo>
                    <a:pt x="88431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81124" y="0"/>
                  </a:lnTo>
                  <a:lnTo>
                    <a:pt x="1419833" y="5740"/>
                  </a:lnTo>
                  <a:lnTo>
                    <a:pt x="1455208" y="22473"/>
                  </a:lnTo>
                  <a:lnTo>
                    <a:pt x="1484206" y="48752"/>
                  </a:lnTo>
                  <a:lnTo>
                    <a:pt x="1504323" y="82318"/>
                  </a:lnTo>
                  <a:lnTo>
                    <a:pt x="1513833" y="120279"/>
                  </a:lnTo>
                  <a:lnTo>
                    <a:pt x="1514474" y="133349"/>
                  </a:lnTo>
                  <a:lnTo>
                    <a:pt x="1514314" y="139901"/>
                  </a:lnTo>
                  <a:lnTo>
                    <a:pt x="1506682" y="178266"/>
                  </a:lnTo>
                  <a:lnTo>
                    <a:pt x="1488227" y="212793"/>
                  </a:lnTo>
                  <a:lnTo>
                    <a:pt x="1460566" y="240453"/>
                  </a:lnTo>
                  <a:lnTo>
                    <a:pt x="1426040" y="258908"/>
                  </a:lnTo>
                  <a:lnTo>
                    <a:pt x="1387675" y="266539"/>
                  </a:lnTo>
                  <a:lnTo>
                    <a:pt x="1381124" y="266699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29551" y="1304690"/>
              <a:ext cx="133807" cy="133818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9824057" y="1259395"/>
            <a:ext cx="1104265" cy="2025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60">
                <a:solidFill>
                  <a:srgbClr val="FFFFFF"/>
                </a:solidFill>
                <a:latin typeface="Montserrat"/>
                <a:cs typeface="Montserrat"/>
              </a:rPr>
              <a:t>Sunlight</a:t>
            </a:r>
            <a:r>
              <a:rPr dirty="0" sz="1150" spc="-3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150" spc="-55">
                <a:solidFill>
                  <a:srgbClr val="FFFFFF"/>
                </a:solidFill>
                <a:latin typeface="Montserrat"/>
                <a:cs typeface="Montserrat"/>
              </a:rPr>
              <a:t>Energy</a:t>
            </a:r>
            <a:endParaRPr sz="1150">
              <a:latin typeface="Montserrat"/>
              <a:cs typeface="Montserrat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0" y="6762749"/>
            <a:ext cx="12192000" cy="95250"/>
          </a:xfrm>
          <a:custGeom>
            <a:avLst/>
            <a:gdLst/>
            <a:ahLst/>
            <a:cxnLst/>
            <a:rect l="l" t="t" r="r" b="b"/>
            <a:pathLst>
              <a:path w="12192000" h="95250">
                <a:moveTo>
                  <a:pt x="12191999" y="95249"/>
                </a:moveTo>
                <a:lnTo>
                  <a:pt x="0" y="952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9"/>
                </a:lnTo>
                <a:close/>
              </a:path>
            </a:pathLst>
          </a:custGeom>
          <a:solidFill>
            <a:srgbClr val="2D8B4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" name="object 27" descr=""/>
          <p:cNvGrpSpPr/>
          <p:nvPr/>
        </p:nvGrpSpPr>
        <p:grpSpPr>
          <a:xfrm>
            <a:off x="10401299" y="6343649"/>
            <a:ext cx="1600200" cy="323850"/>
            <a:chOff x="10401299" y="6343649"/>
            <a:chExt cx="1600200" cy="323850"/>
          </a:xfrm>
        </p:grpSpPr>
        <p:sp>
          <p:nvSpPr>
            <p:cNvPr id="28" name="object 28" descr=""/>
            <p:cNvSpPr/>
            <p:nvPr/>
          </p:nvSpPr>
          <p:spPr>
            <a:xfrm>
              <a:off x="10401299" y="6343649"/>
              <a:ext cx="1600200" cy="323850"/>
            </a:xfrm>
            <a:custGeom>
              <a:avLst/>
              <a:gdLst/>
              <a:ahLst/>
              <a:cxnLst/>
              <a:rect l="l" t="t" r="r" b="b"/>
              <a:pathLst>
                <a:path w="1600200" h="323850">
                  <a:moveTo>
                    <a:pt x="15671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567152" y="0"/>
                  </a:lnTo>
                  <a:lnTo>
                    <a:pt x="1599233" y="28187"/>
                  </a:lnTo>
                  <a:lnTo>
                    <a:pt x="1600199" y="33047"/>
                  </a:lnTo>
                  <a:lnTo>
                    <a:pt x="1600199" y="290802"/>
                  </a:lnTo>
                  <a:lnTo>
                    <a:pt x="1572012" y="322883"/>
                  </a:lnTo>
                  <a:lnTo>
                    <a:pt x="15671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515599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9"/>
              </a:lnSpc>
            </a:pPr>
            <a:r>
              <a:rPr dirty="0" spc="-80"/>
              <a:t>Made</a:t>
            </a:r>
            <a:r>
              <a:rPr dirty="0" spc="-15"/>
              <a:t> </a:t>
            </a:r>
            <a:r>
              <a:rPr dirty="0" spc="-60"/>
              <a:t>with</a:t>
            </a:r>
            <a:r>
              <a:rPr dirty="0" spc="-10"/>
              <a:t> </a:t>
            </a:r>
            <a:r>
              <a:rPr dirty="0" spc="-55"/>
              <a:t>Genspark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260"/>
              <a:t>The</a:t>
            </a:r>
            <a:r>
              <a:rPr dirty="0" spc="-105"/>
              <a:t> </a:t>
            </a:r>
            <a:r>
              <a:rPr dirty="0" spc="-254"/>
              <a:t>Process</a:t>
            </a:r>
            <a:r>
              <a:rPr dirty="0" spc="-105"/>
              <a:t> </a:t>
            </a:r>
            <a:r>
              <a:rPr dirty="0" spc="-225"/>
              <a:t>of</a:t>
            </a:r>
            <a:r>
              <a:rPr dirty="0" spc="-105"/>
              <a:t> </a:t>
            </a:r>
            <a:r>
              <a:rPr dirty="0" spc="-229"/>
              <a:t>Photosynthesis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09599" y="1619249"/>
            <a:ext cx="5334000" cy="1219200"/>
            <a:chOff x="609599" y="1619249"/>
            <a:chExt cx="5334000" cy="1219200"/>
          </a:xfrm>
        </p:grpSpPr>
        <p:sp>
          <p:nvSpPr>
            <p:cNvPr id="4" name="object 4" descr=""/>
            <p:cNvSpPr/>
            <p:nvPr/>
          </p:nvSpPr>
          <p:spPr>
            <a:xfrm>
              <a:off x="628649" y="1619249"/>
              <a:ext cx="5314950" cy="1219200"/>
            </a:xfrm>
            <a:custGeom>
              <a:avLst/>
              <a:gdLst/>
              <a:ahLst/>
              <a:cxnLst/>
              <a:rect l="l" t="t" r="r" b="b"/>
              <a:pathLst>
                <a:path w="5314950" h="1219200">
                  <a:moveTo>
                    <a:pt x="5261552" y="1219199"/>
                  </a:moveTo>
                  <a:lnTo>
                    <a:pt x="33047" y="1219199"/>
                  </a:lnTo>
                  <a:lnTo>
                    <a:pt x="28187" y="1217749"/>
                  </a:lnTo>
                  <a:lnTo>
                    <a:pt x="966" y="1176918"/>
                  </a:lnTo>
                  <a:lnTo>
                    <a:pt x="0" y="1169628"/>
                  </a:lnTo>
                  <a:lnTo>
                    <a:pt x="0" y="11620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261552" y="0"/>
                  </a:lnTo>
                  <a:lnTo>
                    <a:pt x="5300863" y="19392"/>
                  </a:lnTo>
                  <a:lnTo>
                    <a:pt x="5314949" y="53397"/>
                  </a:lnTo>
                  <a:lnTo>
                    <a:pt x="5314949" y="1165802"/>
                  </a:lnTo>
                  <a:lnTo>
                    <a:pt x="5295556" y="1205114"/>
                  </a:lnTo>
                  <a:lnTo>
                    <a:pt x="5265268" y="1218833"/>
                  </a:lnTo>
                  <a:lnTo>
                    <a:pt x="5261552" y="1219199"/>
                  </a:lnTo>
                  <a:close/>
                </a:path>
              </a:pathLst>
            </a:custGeom>
            <a:solidFill>
              <a:srgbClr val="2D8B4A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9599" y="1619249"/>
              <a:ext cx="52069" cy="1219200"/>
            </a:xfrm>
            <a:custGeom>
              <a:avLst/>
              <a:gdLst/>
              <a:ahLst/>
              <a:cxnLst/>
              <a:rect l="l" t="t" r="r" b="b"/>
              <a:pathLst>
                <a:path w="52070" h="1219200">
                  <a:moveTo>
                    <a:pt x="51889" y="1219199"/>
                  </a:moveTo>
                  <a:lnTo>
                    <a:pt x="49571" y="1219199"/>
                  </a:lnTo>
                  <a:lnTo>
                    <a:pt x="42281" y="1217749"/>
                  </a:lnTo>
                  <a:lnTo>
                    <a:pt x="7250" y="1190921"/>
                  </a:lnTo>
                  <a:lnTo>
                    <a:pt x="0" y="1169628"/>
                  </a:lnTo>
                  <a:lnTo>
                    <a:pt x="0" y="49571"/>
                  </a:lnTo>
                  <a:lnTo>
                    <a:pt x="22097" y="11380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1162050"/>
                  </a:lnTo>
                  <a:lnTo>
                    <a:pt x="43679" y="1202460"/>
                  </a:lnTo>
                  <a:lnTo>
                    <a:pt x="47399" y="1213620"/>
                  </a:lnTo>
                  <a:lnTo>
                    <a:pt x="51889" y="1219199"/>
                  </a:lnTo>
                  <a:close/>
                </a:path>
              </a:pathLst>
            </a:custGeom>
            <a:solidFill>
              <a:srgbClr val="2D8B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96899" y="1125727"/>
            <a:ext cx="2005330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-10">
                <a:solidFill>
                  <a:srgbClr val="047857"/>
                </a:solidFill>
                <a:latin typeface="Montserrat"/>
                <a:cs typeface="Montserrat"/>
              </a:rPr>
              <a:t>1.</a:t>
            </a:r>
            <a:r>
              <a:rPr dirty="0" sz="1950" spc="-110">
                <a:solidFill>
                  <a:srgbClr val="047857"/>
                </a:solidFill>
                <a:latin typeface="Montserrat"/>
                <a:cs typeface="Montserrat"/>
              </a:rPr>
              <a:t> </a:t>
            </a:r>
            <a:r>
              <a:rPr dirty="0" sz="1950" spc="-85">
                <a:solidFill>
                  <a:srgbClr val="047857"/>
                </a:solidFill>
                <a:latin typeface="Montserrat"/>
                <a:cs typeface="Montserrat"/>
              </a:rPr>
              <a:t>Light</a:t>
            </a:r>
            <a:r>
              <a:rPr dirty="0" sz="1950" spc="-45">
                <a:solidFill>
                  <a:srgbClr val="047857"/>
                </a:solidFill>
                <a:latin typeface="Montserrat"/>
                <a:cs typeface="Montserrat"/>
              </a:rPr>
              <a:t> </a:t>
            </a:r>
            <a:r>
              <a:rPr dirty="0" sz="1950" spc="-80">
                <a:solidFill>
                  <a:srgbClr val="047857"/>
                </a:solidFill>
                <a:latin typeface="Montserrat"/>
                <a:cs typeface="Montserrat"/>
              </a:rPr>
              <a:t>Reactions</a:t>
            </a:r>
            <a:endParaRPr sz="1950">
              <a:latin typeface="Montserrat"/>
              <a:cs typeface="Montserra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87399" y="1747433"/>
            <a:ext cx="2486025" cy="23367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-90" b="1">
                <a:solidFill>
                  <a:srgbClr val="333333"/>
                </a:solidFill>
                <a:latin typeface="Montserrat SemiBold"/>
                <a:cs typeface="Montserrat SemiBold"/>
              </a:rPr>
              <a:t>Location:</a:t>
            </a:r>
            <a:r>
              <a:rPr dirty="0" sz="1350" spc="-35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Montserrat"/>
                <a:cs typeface="Montserrat"/>
              </a:rPr>
              <a:t>Thylakoid</a:t>
            </a:r>
            <a:r>
              <a:rPr dirty="0" sz="130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Montserrat"/>
                <a:cs typeface="Montserrat"/>
              </a:rPr>
              <a:t>membranes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87399" y="2052233"/>
            <a:ext cx="2872105" cy="23367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-90" b="1">
                <a:solidFill>
                  <a:srgbClr val="333333"/>
                </a:solidFill>
                <a:latin typeface="Montserrat SemiBold"/>
                <a:cs typeface="Montserrat SemiBold"/>
              </a:rPr>
              <a:t>Requires:</a:t>
            </a:r>
            <a:r>
              <a:rPr dirty="0" sz="1350" spc="-35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Montserrat"/>
                <a:cs typeface="Montserrat"/>
              </a:rPr>
              <a:t>Sunlight,</a:t>
            </a:r>
            <a:r>
              <a:rPr dirty="0" sz="130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Montserrat"/>
                <a:cs typeface="Montserrat"/>
              </a:rPr>
              <a:t>water,</a:t>
            </a:r>
            <a:r>
              <a:rPr dirty="0" sz="130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45">
                <a:solidFill>
                  <a:srgbClr val="333333"/>
                </a:solidFill>
                <a:latin typeface="Montserrat"/>
                <a:cs typeface="Montserrat"/>
              </a:rPr>
              <a:t>chlorophyll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87399" y="2357033"/>
            <a:ext cx="2423160" cy="23367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-100" b="1">
                <a:solidFill>
                  <a:srgbClr val="333333"/>
                </a:solidFill>
                <a:latin typeface="Montserrat SemiBold"/>
                <a:cs typeface="Montserrat SemiBold"/>
              </a:rPr>
              <a:t>Produces:</a:t>
            </a:r>
            <a:r>
              <a:rPr dirty="0" sz="1350" spc="-20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300" spc="-85">
                <a:solidFill>
                  <a:srgbClr val="333333"/>
                </a:solidFill>
                <a:latin typeface="Montserrat"/>
                <a:cs typeface="Montserrat"/>
              </a:rPr>
              <a:t>ATP,</a:t>
            </a:r>
            <a:r>
              <a:rPr dirty="0" sz="1300" spc="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80">
                <a:solidFill>
                  <a:srgbClr val="333333"/>
                </a:solidFill>
                <a:latin typeface="Montserrat"/>
                <a:cs typeface="Montserrat"/>
              </a:rPr>
              <a:t>NADPH,</a:t>
            </a:r>
            <a:r>
              <a:rPr dirty="0" sz="1300" spc="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Montserrat"/>
                <a:cs typeface="Montserrat"/>
              </a:rPr>
              <a:t>oxygen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6899" y="2939783"/>
            <a:ext cx="5224145" cy="10922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0700"/>
              </a:lnSpc>
              <a:spcBef>
                <a:spcPts val="90"/>
              </a:spcBef>
            </a:pPr>
            <a:r>
              <a:rPr dirty="0" sz="1450" spc="-45">
                <a:solidFill>
                  <a:srgbClr val="333333"/>
                </a:solidFill>
                <a:latin typeface="Montserrat"/>
                <a:cs typeface="Montserrat"/>
              </a:rPr>
              <a:t>In</a:t>
            </a:r>
            <a:r>
              <a:rPr dirty="0" sz="145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50">
                <a:solidFill>
                  <a:srgbClr val="333333"/>
                </a:solidFill>
                <a:latin typeface="Montserrat"/>
                <a:cs typeface="Montserrat"/>
              </a:rPr>
              <a:t>this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Montserrat"/>
                <a:cs typeface="Montserrat"/>
              </a:rPr>
              <a:t>stage,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Montserrat"/>
                <a:cs typeface="Montserrat"/>
              </a:rPr>
              <a:t>chlorophyll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Montserrat"/>
                <a:cs typeface="Montserrat"/>
              </a:rPr>
              <a:t>captures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45">
                <a:solidFill>
                  <a:srgbClr val="333333"/>
                </a:solidFill>
                <a:latin typeface="Montserrat"/>
                <a:cs typeface="Montserrat"/>
              </a:rPr>
              <a:t>light</a:t>
            </a:r>
            <a:r>
              <a:rPr dirty="0" sz="145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Montserrat"/>
                <a:cs typeface="Montserrat"/>
              </a:rPr>
              <a:t>energy,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Montserrat"/>
                <a:cs typeface="Montserrat"/>
              </a:rPr>
              <a:t>which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30">
                <a:solidFill>
                  <a:srgbClr val="333333"/>
                </a:solidFill>
                <a:latin typeface="Montserrat"/>
                <a:cs typeface="Montserrat"/>
              </a:rPr>
              <a:t>is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20">
                <a:solidFill>
                  <a:srgbClr val="333333"/>
                </a:solidFill>
                <a:latin typeface="Montserrat"/>
                <a:cs typeface="Montserrat"/>
              </a:rPr>
              <a:t>used </a:t>
            </a:r>
            <a:r>
              <a:rPr dirty="0" sz="1450" spc="-80">
                <a:solidFill>
                  <a:srgbClr val="333333"/>
                </a:solidFill>
                <a:latin typeface="Montserrat"/>
                <a:cs typeface="Montserrat"/>
              </a:rPr>
              <a:t>to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45">
                <a:solidFill>
                  <a:srgbClr val="333333"/>
                </a:solidFill>
                <a:latin typeface="Montserrat"/>
                <a:cs typeface="Montserrat"/>
              </a:rPr>
              <a:t>split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80">
                <a:solidFill>
                  <a:srgbClr val="333333"/>
                </a:solidFill>
                <a:latin typeface="Montserrat"/>
                <a:cs typeface="Montserrat"/>
              </a:rPr>
              <a:t>water</a:t>
            </a:r>
            <a:r>
              <a:rPr dirty="0" sz="145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Montserrat"/>
                <a:cs typeface="Montserrat"/>
              </a:rPr>
              <a:t>molecules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60">
                <a:solidFill>
                  <a:srgbClr val="333333"/>
                </a:solidFill>
                <a:latin typeface="Montserrat"/>
                <a:cs typeface="Montserrat"/>
              </a:rPr>
              <a:t>(photolysis),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60">
                <a:solidFill>
                  <a:srgbClr val="333333"/>
                </a:solidFill>
                <a:latin typeface="Montserrat"/>
                <a:cs typeface="Montserrat"/>
              </a:rPr>
              <a:t>releasing</a:t>
            </a:r>
            <a:r>
              <a:rPr dirty="0" sz="145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90">
                <a:solidFill>
                  <a:srgbClr val="333333"/>
                </a:solidFill>
                <a:latin typeface="Montserrat"/>
                <a:cs typeface="Montserrat"/>
              </a:rPr>
              <a:t>oxygen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Montserrat"/>
                <a:cs typeface="Montserrat"/>
              </a:rPr>
              <a:t>as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50">
                <a:solidFill>
                  <a:srgbClr val="333333"/>
                </a:solidFill>
                <a:latin typeface="Montserrat"/>
                <a:cs typeface="Montserrat"/>
              </a:rPr>
              <a:t>a </a:t>
            </a:r>
            <a:r>
              <a:rPr dirty="0" sz="1450" spc="-65">
                <a:solidFill>
                  <a:srgbClr val="333333"/>
                </a:solidFill>
                <a:latin typeface="Montserrat"/>
                <a:cs typeface="Montserrat"/>
              </a:rPr>
              <a:t>byproduct.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Montserrat"/>
                <a:cs typeface="Montserrat"/>
              </a:rPr>
              <a:t>The</a:t>
            </a:r>
            <a:r>
              <a:rPr dirty="0" sz="145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Montserrat"/>
                <a:cs typeface="Montserrat"/>
              </a:rPr>
              <a:t>energy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30">
                <a:solidFill>
                  <a:srgbClr val="333333"/>
                </a:solidFill>
                <a:latin typeface="Montserrat"/>
                <a:cs typeface="Montserrat"/>
              </a:rPr>
              <a:t>is</a:t>
            </a:r>
            <a:r>
              <a:rPr dirty="0" sz="145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Montserrat"/>
                <a:cs typeface="Montserrat"/>
              </a:rPr>
              <a:t>stored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Montserrat"/>
                <a:cs typeface="Montserrat"/>
              </a:rPr>
              <a:t>as</a:t>
            </a:r>
            <a:r>
              <a:rPr dirty="0" sz="145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95">
                <a:solidFill>
                  <a:srgbClr val="333333"/>
                </a:solidFill>
                <a:latin typeface="Montserrat"/>
                <a:cs typeface="Montserrat"/>
              </a:rPr>
              <a:t>ATP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Montserrat"/>
                <a:cs typeface="Montserrat"/>
              </a:rPr>
              <a:t>and</a:t>
            </a:r>
            <a:r>
              <a:rPr dirty="0" sz="145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85">
                <a:solidFill>
                  <a:srgbClr val="333333"/>
                </a:solidFill>
                <a:latin typeface="Montserrat"/>
                <a:cs typeface="Montserrat"/>
              </a:rPr>
              <a:t>NADPH,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which </a:t>
            </a:r>
            <a:r>
              <a:rPr dirty="0" sz="1450" spc="-85">
                <a:solidFill>
                  <a:srgbClr val="333333"/>
                </a:solidFill>
                <a:latin typeface="Montserrat"/>
                <a:cs typeface="Montserrat"/>
              </a:rPr>
              <a:t>power</a:t>
            </a:r>
            <a:r>
              <a:rPr dirty="0" sz="145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Montserrat"/>
                <a:cs typeface="Montserrat"/>
              </a:rPr>
              <a:t>the</a:t>
            </a:r>
            <a:r>
              <a:rPr dirty="0" sz="145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Montserrat"/>
                <a:cs typeface="Montserrat"/>
              </a:rPr>
              <a:t>Calvin</a:t>
            </a:r>
            <a:r>
              <a:rPr dirty="0" sz="145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Cycle.</a:t>
            </a:r>
            <a:endParaRPr sz="1450">
              <a:latin typeface="Montserrat"/>
              <a:cs typeface="Montserrat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4210050"/>
            <a:ext cx="3333749" cy="2085974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6248399" y="1619249"/>
            <a:ext cx="5334000" cy="1219200"/>
            <a:chOff x="6248399" y="1619249"/>
            <a:chExt cx="5334000" cy="1219200"/>
          </a:xfrm>
        </p:grpSpPr>
        <p:sp>
          <p:nvSpPr>
            <p:cNvPr id="13" name="object 13" descr=""/>
            <p:cNvSpPr/>
            <p:nvPr/>
          </p:nvSpPr>
          <p:spPr>
            <a:xfrm>
              <a:off x="6267448" y="1619249"/>
              <a:ext cx="5314950" cy="1219200"/>
            </a:xfrm>
            <a:custGeom>
              <a:avLst/>
              <a:gdLst/>
              <a:ahLst/>
              <a:cxnLst/>
              <a:rect l="l" t="t" r="r" b="b"/>
              <a:pathLst>
                <a:path w="5314950" h="1219200">
                  <a:moveTo>
                    <a:pt x="5261552" y="1219199"/>
                  </a:moveTo>
                  <a:lnTo>
                    <a:pt x="33047" y="1219199"/>
                  </a:lnTo>
                  <a:lnTo>
                    <a:pt x="28187" y="1217749"/>
                  </a:lnTo>
                  <a:lnTo>
                    <a:pt x="966" y="1176918"/>
                  </a:lnTo>
                  <a:lnTo>
                    <a:pt x="0" y="1169628"/>
                  </a:lnTo>
                  <a:lnTo>
                    <a:pt x="0" y="11620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261552" y="0"/>
                  </a:lnTo>
                  <a:lnTo>
                    <a:pt x="5300863" y="19392"/>
                  </a:lnTo>
                  <a:lnTo>
                    <a:pt x="5314949" y="53397"/>
                  </a:lnTo>
                  <a:lnTo>
                    <a:pt x="5314949" y="1165802"/>
                  </a:lnTo>
                  <a:lnTo>
                    <a:pt x="5295557" y="1205114"/>
                  </a:lnTo>
                  <a:lnTo>
                    <a:pt x="5265268" y="1218833"/>
                  </a:lnTo>
                  <a:lnTo>
                    <a:pt x="5261552" y="1219199"/>
                  </a:lnTo>
                  <a:close/>
                </a:path>
              </a:pathLst>
            </a:custGeom>
            <a:solidFill>
              <a:srgbClr val="2D8B4A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248399" y="1619249"/>
              <a:ext cx="52069" cy="1219200"/>
            </a:xfrm>
            <a:custGeom>
              <a:avLst/>
              <a:gdLst/>
              <a:ahLst/>
              <a:cxnLst/>
              <a:rect l="l" t="t" r="r" b="b"/>
              <a:pathLst>
                <a:path w="52070" h="1219200">
                  <a:moveTo>
                    <a:pt x="51890" y="1219199"/>
                  </a:moveTo>
                  <a:lnTo>
                    <a:pt x="49571" y="1219199"/>
                  </a:lnTo>
                  <a:lnTo>
                    <a:pt x="42280" y="1217749"/>
                  </a:lnTo>
                  <a:lnTo>
                    <a:pt x="7249" y="1190921"/>
                  </a:lnTo>
                  <a:lnTo>
                    <a:pt x="0" y="1169628"/>
                  </a:lnTo>
                  <a:lnTo>
                    <a:pt x="0" y="49571"/>
                  </a:lnTo>
                  <a:lnTo>
                    <a:pt x="22097" y="11380"/>
                  </a:lnTo>
                  <a:lnTo>
                    <a:pt x="49571" y="0"/>
                  </a:lnTo>
                  <a:lnTo>
                    <a:pt x="51890" y="0"/>
                  </a:lnTo>
                  <a:lnTo>
                    <a:pt x="47399" y="5579"/>
                  </a:lnTo>
                  <a:lnTo>
                    <a:pt x="43680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1162050"/>
                  </a:lnTo>
                  <a:lnTo>
                    <a:pt x="43680" y="1202460"/>
                  </a:lnTo>
                  <a:lnTo>
                    <a:pt x="47399" y="1213620"/>
                  </a:lnTo>
                  <a:lnTo>
                    <a:pt x="51890" y="1219199"/>
                  </a:lnTo>
                  <a:close/>
                </a:path>
              </a:pathLst>
            </a:custGeom>
            <a:solidFill>
              <a:srgbClr val="2D8B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6235699" y="1125727"/>
            <a:ext cx="3580765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-30">
                <a:solidFill>
                  <a:srgbClr val="047857"/>
                </a:solidFill>
                <a:latin typeface="Montserrat"/>
                <a:cs typeface="Montserrat"/>
              </a:rPr>
              <a:t>2. </a:t>
            </a:r>
            <a:r>
              <a:rPr dirty="0" sz="1950" spc="-110">
                <a:solidFill>
                  <a:srgbClr val="047857"/>
                </a:solidFill>
                <a:latin typeface="Montserrat"/>
                <a:cs typeface="Montserrat"/>
              </a:rPr>
              <a:t>Dark</a:t>
            </a:r>
            <a:r>
              <a:rPr dirty="0" sz="1950" spc="-25">
                <a:solidFill>
                  <a:srgbClr val="047857"/>
                </a:solidFill>
                <a:latin typeface="Montserrat"/>
                <a:cs typeface="Montserrat"/>
              </a:rPr>
              <a:t> </a:t>
            </a:r>
            <a:r>
              <a:rPr dirty="0" sz="1950" spc="-95">
                <a:solidFill>
                  <a:srgbClr val="047857"/>
                </a:solidFill>
                <a:latin typeface="Montserrat"/>
                <a:cs typeface="Montserrat"/>
              </a:rPr>
              <a:t>Reactions</a:t>
            </a:r>
            <a:r>
              <a:rPr dirty="0" sz="1950" spc="-25">
                <a:solidFill>
                  <a:srgbClr val="047857"/>
                </a:solidFill>
                <a:latin typeface="Montserrat"/>
                <a:cs typeface="Montserrat"/>
              </a:rPr>
              <a:t> </a:t>
            </a:r>
            <a:r>
              <a:rPr dirty="0" sz="1950" spc="-85">
                <a:solidFill>
                  <a:srgbClr val="047857"/>
                </a:solidFill>
                <a:latin typeface="Montserrat"/>
                <a:cs typeface="Montserrat"/>
              </a:rPr>
              <a:t>(Calvin</a:t>
            </a:r>
            <a:r>
              <a:rPr dirty="0" sz="1950" spc="-25">
                <a:solidFill>
                  <a:srgbClr val="047857"/>
                </a:solidFill>
                <a:latin typeface="Montserrat"/>
                <a:cs typeface="Montserrat"/>
              </a:rPr>
              <a:t> </a:t>
            </a:r>
            <a:r>
              <a:rPr dirty="0" sz="1950" spc="-65">
                <a:solidFill>
                  <a:srgbClr val="047857"/>
                </a:solidFill>
                <a:latin typeface="Montserrat"/>
                <a:cs typeface="Montserrat"/>
              </a:rPr>
              <a:t>Cycle)</a:t>
            </a:r>
            <a:endParaRPr sz="1950">
              <a:latin typeface="Montserrat"/>
              <a:cs typeface="Montserra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426199" y="1747433"/>
            <a:ext cx="2422525" cy="23367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-90" b="1">
                <a:solidFill>
                  <a:srgbClr val="333333"/>
                </a:solidFill>
                <a:latin typeface="Montserrat SemiBold"/>
                <a:cs typeface="Montserrat SemiBold"/>
              </a:rPr>
              <a:t>Location:</a:t>
            </a:r>
            <a:r>
              <a:rPr dirty="0" sz="1350" spc="-30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300" spc="-75">
                <a:solidFill>
                  <a:srgbClr val="333333"/>
                </a:solidFill>
                <a:latin typeface="Montserrat"/>
                <a:cs typeface="Montserrat"/>
              </a:rPr>
              <a:t>Stroma</a:t>
            </a:r>
            <a:r>
              <a:rPr dirty="0" sz="1300" spc="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Montserrat"/>
                <a:cs typeface="Montserrat"/>
              </a:rPr>
              <a:t>of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Montserrat"/>
                <a:cs typeface="Montserrat"/>
              </a:rPr>
              <a:t>chloroplast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426199" y="2052233"/>
            <a:ext cx="2120265" cy="23367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-90" b="1">
                <a:solidFill>
                  <a:srgbClr val="333333"/>
                </a:solidFill>
                <a:latin typeface="Montserrat SemiBold"/>
                <a:cs typeface="Montserrat SemiBold"/>
              </a:rPr>
              <a:t>Requires:</a:t>
            </a:r>
            <a:r>
              <a:rPr dirty="0" sz="1350" spc="-20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300" spc="-85">
                <a:solidFill>
                  <a:srgbClr val="333333"/>
                </a:solidFill>
                <a:latin typeface="Montserrat"/>
                <a:cs typeface="Montserrat"/>
              </a:rPr>
              <a:t>ATP,</a:t>
            </a:r>
            <a:r>
              <a:rPr dirty="0" sz="1300" spc="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80">
                <a:solidFill>
                  <a:srgbClr val="333333"/>
                </a:solidFill>
                <a:latin typeface="Montserrat"/>
                <a:cs typeface="Montserrat"/>
              </a:rPr>
              <a:t>NADPH,</a:t>
            </a:r>
            <a:r>
              <a:rPr dirty="0" sz="1300" spc="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45">
                <a:solidFill>
                  <a:srgbClr val="333333"/>
                </a:solidFill>
                <a:latin typeface="Montserrat"/>
                <a:cs typeface="Montserrat"/>
              </a:rPr>
              <a:t>CO</a:t>
            </a:r>
            <a:r>
              <a:rPr dirty="0" sz="1200" spc="-45">
                <a:solidFill>
                  <a:srgbClr val="333333"/>
                </a:solidFill>
                <a:latin typeface="DejaVu Sans"/>
                <a:cs typeface="DejaVu Sans"/>
              </a:rPr>
              <a:t>₂</a:t>
            </a:r>
            <a:endParaRPr sz="1200">
              <a:latin typeface="DejaVu Sans"/>
              <a:cs typeface="DejaVu San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426199" y="2357033"/>
            <a:ext cx="2019300" cy="23367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-100" b="1">
                <a:solidFill>
                  <a:srgbClr val="333333"/>
                </a:solidFill>
                <a:latin typeface="Montserrat SemiBold"/>
                <a:cs typeface="Montserrat SemiBold"/>
              </a:rPr>
              <a:t>Produces:</a:t>
            </a:r>
            <a:r>
              <a:rPr dirty="0" sz="1350" spc="-30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Montserrat"/>
                <a:cs typeface="Montserrat"/>
              </a:rPr>
              <a:t>Glucose</a:t>
            </a:r>
            <a:r>
              <a:rPr dirty="0" sz="1300" spc="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40">
                <a:solidFill>
                  <a:srgbClr val="333333"/>
                </a:solidFill>
                <a:latin typeface="Montserrat"/>
                <a:cs typeface="Montserrat"/>
              </a:rPr>
              <a:t>(sugar)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235699" y="2939783"/>
            <a:ext cx="5097780" cy="10922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0700"/>
              </a:lnSpc>
              <a:spcBef>
                <a:spcPts val="90"/>
              </a:spcBef>
            </a:pPr>
            <a:r>
              <a:rPr dirty="0" sz="1450" spc="-70">
                <a:solidFill>
                  <a:srgbClr val="333333"/>
                </a:solidFill>
                <a:latin typeface="Montserrat"/>
                <a:cs typeface="Montserrat"/>
              </a:rPr>
              <a:t>The</a:t>
            </a:r>
            <a:r>
              <a:rPr dirty="0" sz="1450" spc="-2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Montserrat"/>
                <a:cs typeface="Montserrat"/>
              </a:rPr>
              <a:t>Calvin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Montserrat"/>
                <a:cs typeface="Montserrat"/>
              </a:rPr>
              <a:t>Cycle</a:t>
            </a:r>
            <a:r>
              <a:rPr dirty="0" sz="145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Montserrat"/>
                <a:cs typeface="Montserrat"/>
              </a:rPr>
              <a:t>doesn't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55">
                <a:solidFill>
                  <a:srgbClr val="333333"/>
                </a:solidFill>
                <a:latin typeface="Montserrat"/>
                <a:cs typeface="Montserrat"/>
              </a:rPr>
              <a:t>directly</a:t>
            </a:r>
            <a:r>
              <a:rPr dirty="0" sz="145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Montserrat"/>
                <a:cs typeface="Montserrat"/>
              </a:rPr>
              <a:t>need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40">
                <a:solidFill>
                  <a:srgbClr val="333333"/>
                </a:solidFill>
                <a:latin typeface="Montserrat"/>
                <a:cs typeface="Montserrat"/>
              </a:rPr>
              <a:t>light,</a:t>
            </a:r>
            <a:r>
              <a:rPr dirty="0" sz="145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Montserrat"/>
                <a:cs typeface="Montserrat"/>
              </a:rPr>
              <a:t>but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Montserrat"/>
                <a:cs typeface="Montserrat"/>
              </a:rPr>
              <a:t>uses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25">
                <a:solidFill>
                  <a:srgbClr val="333333"/>
                </a:solidFill>
                <a:latin typeface="Montserrat"/>
                <a:cs typeface="Montserrat"/>
              </a:rPr>
              <a:t>the </a:t>
            </a:r>
            <a:r>
              <a:rPr dirty="0" sz="1450" spc="-65">
                <a:solidFill>
                  <a:srgbClr val="333333"/>
                </a:solidFill>
                <a:latin typeface="Montserrat"/>
                <a:cs typeface="Montserrat"/>
              </a:rPr>
              <a:t>products</a:t>
            </a:r>
            <a:r>
              <a:rPr dirty="0" sz="1450" spc="-3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50">
                <a:solidFill>
                  <a:srgbClr val="333333"/>
                </a:solidFill>
                <a:latin typeface="Montserrat"/>
                <a:cs typeface="Montserrat"/>
              </a:rPr>
              <a:t>of</a:t>
            </a:r>
            <a:r>
              <a:rPr dirty="0" sz="1450" spc="-2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Montserrat"/>
                <a:cs typeface="Montserrat"/>
              </a:rPr>
              <a:t>the</a:t>
            </a:r>
            <a:r>
              <a:rPr dirty="0" sz="1450" spc="-2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45">
                <a:solidFill>
                  <a:srgbClr val="333333"/>
                </a:solidFill>
                <a:latin typeface="Montserrat"/>
                <a:cs typeface="Montserrat"/>
              </a:rPr>
              <a:t>light</a:t>
            </a:r>
            <a:r>
              <a:rPr dirty="0" sz="1450" spc="-2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60">
                <a:solidFill>
                  <a:srgbClr val="333333"/>
                </a:solidFill>
                <a:latin typeface="Montserrat"/>
                <a:cs typeface="Montserrat"/>
              </a:rPr>
              <a:t>reactions.</a:t>
            </a:r>
            <a:r>
              <a:rPr dirty="0" sz="1450" spc="-2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80">
                <a:solidFill>
                  <a:srgbClr val="333333"/>
                </a:solidFill>
                <a:latin typeface="Montserrat"/>
                <a:cs typeface="Montserrat"/>
              </a:rPr>
              <a:t>Carbon</a:t>
            </a:r>
            <a:r>
              <a:rPr dirty="0" sz="1450" spc="-2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60">
                <a:solidFill>
                  <a:srgbClr val="333333"/>
                </a:solidFill>
                <a:latin typeface="Montserrat"/>
                <a:cs typeface="Montserrat"/>
              </a:rPr>
              <a:t>dioxide</a:t>
            </a:r>
            <a:r>
              <a:rPr dirty="0" sz="1450" spc="-2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30">
                <a:solidFill>
                  <a:srgbClr val="333333"/>
                </a:solidFill>
                <a:latin typeface="Montserrat"/>
                <a:cs typeface="Montserrat"/>
              </a:rPr>
              <a:t>is</a:t>
            </a:r>
            <a:r>
              <a:rPr dirty="0" sz="1450" spc="-2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35">
                <a:solidFill>
                  <a:srgbClr val="333333"/>
                </a:solidFill>
                <a:latin typeface="Montserrat"/>
                <a:cs typeface="Montserrat"/>
              </a:rPr>
              <a:t>combined </a:t>
            </a:r>
            <a:r>
              <a:rPr dirty="0" sz="1450" spc="-65">
                <a:solidFill>
                  <a:srgbClr val="333333"/>
                </a:solidFill>
                <a:latin typeface="Montserrat"/>
                <a:cs typeface="Montserrat"/>
              </a:rPr>
              <a:t>with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70">
                <a:solidFill>
                  <a:srgbClr val="333333"/>
                </a:solidFill>
                <a:latin typeface="Montserrat"/>
                <a:cs typeface="Montserrat"/>
              </a:rPr>
              <a:t>a</a:t>
            </a:r>
            <a:r>
              <a:rPr dirty="0" sz="145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50">
                <a:solidFill>
                  <a:srgbClr val="333333"/>
                </a:solidFill>
                <a:latin typeface="Montserrat"/>
                <a:cs typeface="Montserrat"/>
              </a:rPr>
              <a:t>5-</a:t>
            </a:r>
            <a:r>
              <a:rPr dirty="0" sz="1450" spc="-75">
                <a:solidFill>
                  <a:srgbClr val="333333"/>
                </a:solidFill>
                <a:latin typeface="Montserrat"/>
                <a:cs typeface="Montserrat"/>
              </a:rPr>
              <a:t>carbon</a:t>
            </a:r>
            <a:r>
              <a:rPr dirty="0" sz="145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80">
                <a:solidFill>
                  <a:srgbClr val="333333"/>
                </a:solidFill>
                <a:latin typeface="Montserrat"/>
                <a:cs typeface="Montserrat"/>
              </a:rPr>
              <a:t>compound</a:t>
            </a:r>
            <a:r>
              <a:rPr dirty="0" sz="145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Montserrat"/>
                <a:cs typeface="Montserrat"/>
              </a:rPr>
              <a:t>(RuBP)</a:t>
            </a:r>
            <a:r>
              <a:rPr dirty="0" sz="145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80">
                <a:solidFill>
                  <a:srgbClr val="333333"/>
                </a:solidFill>
                <a:latin typeface="Montserrat"/>
                <a:cs typeface="Montserrat"/>
              </a:rPr>
              <a:t>to</a:t>
            </a:r>
            <a:r>
              <a:rPr dirty="0" sz="145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65">
                <a:solidFill>
                  <a:srgbClr val="333333"/>
                </a:solidFill>
                <a:latin typeface="Montserrat"/>
                <a:cs typeface="Montserrat"/>
              </a:rPr>
              <a:t>eventually</a:t>
            </a:r>
            <a:r>
              <a:rPr dirty="0" sz="145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20">
                <a:solidFill>
                  <a:srgbClr val="333333"/>
                </a:solidFill>
                <a:latin typeface="Montserrat"/>
                <a:cs typeface="Montserrat"/>
              </a:rPr>
              <a:t>form </a:t>
            </a:r>
            <a:r>
              <a:rPr dirty="0" sz="1450" spc="-60">
                <a:solidFill>
                  <a:srgbClr val="333333"/>
                </a:solidFill>
                <a:latin typeface="Montserrat"/>
                <a:cs typeface="Montserrat"/>
              </a:rPr>
              <a:t>glucose.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55">
                <a:solidFill>
                  <a:srgbClr val="333333"/>
                </a:solidFill>
                <a:latin typeface="Montserrat"/>
                <a:cs typeface="Montserrat"/>
              </a:rPr>
              <a:t>This</a:t>
            </a:r>
            <a:r>
              <a:rPr dirty="0" sz="145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Montserrat"/>
                <a:cs typeface="Montserrat"/>
              </a:rPr>
              <a:t>process</a:t>
            </a:r>
            <a:r>
              <a:rPr dirty="0" sz="145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30">
                <a:solidFill>
                  <a:srgbClr val="333333"/>
                </a:solidFill>
                <a:latin typeface="Montserrat"/>
                <a:cs typeface="Montserrat"/>
              </a:rPr>
              <a:t>is</a:t>
            </a:r>
            <a:r>
              <a:rPr dirty="0" sz="145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60">
                <a:solidFill>
                  <a:srgbClr val="333333"/>
                </a:solidFill>
                <a:latin typeface="Montserrat"/>
                <a:cs typeface="Montserrat"/>
              </a:rPr>
              <a:t>also</a:t>
            </a:r>
            <a:r>
              <a:rPr dirty="0" sz="145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60">
                <a:solidFill>
                  <a:srgbClr val="333333"/>
                </a:solidFill>
                <a:latin typeface="Montserrat"/>
                <a:cs typeface="Montserrat"/>
              </a:rPr>
              <a:t>called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75">
                <a:solidFill>
                  <a:srgbClr val="333333"/>
                </a:solidFill>
                <a:latin typeface="Montserrat"/>
                <a:cs typeface="Montserrat"/>
              </a:rPr>
              <a:t>carbon</a:t>
            </a:r>
            <a:r>
              <a:rPr dirty="0" sz="145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450" spc="-10">
                <a:solidFill>
                  <a:srgbClr val="333333"/>
                </a:solidFill>
                <a:latin typeface="Montserrat"/>
                <a:cs typeface="Montserrat"/>
              </a:rPr>
              <a:t>fixation.</a:t>
            </a:r>
            <a:endParaRPr sz="1450">
              <a:latin typeface="Montserrat"/>
              <a:cs typeface="Montserrat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8400" y="4210050"/>
            <a:ext cx="3333749" cy="2085974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609599" y="6524624"/>
            <a:ext cx="10972800" cy="1295400"/>
          </a:xfrm>
          <a:custGeom>
            <a:avLst/>
            <a:gdLst/>
            <a:ahLst/>
            <a:cxnLst/>
            <a:rect l="l" t="t" r="r" b="b"/>
            <a:pathLst>
              <a:path w="10972800" h="1295400">
                <a:moveTo>
                  <a:pt x="10901602" y="1295399"/>
                </a:moveTo>
                <a:lnTo>
                  <a:pt x="71196" y="1295399"/>
                </a:lnTo>
                <a:lnTo>
                  <a:pt x="66241" y="1294910"/>
                </a:lnTo>
                <a:lnTo>
                  <a:pt x="29705" y="1279777"/>
                </a:lnTo>
                <a:lnTo>
                  <a:pt x="3885" y="1243737"/>
                </a:lnTo>
                <a:lnTo>
                  <a:pt x="0" y="1224203"/>
                </a:lnTo>
                <a:lnTo>
                  <a:pt x="0" y="12191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10901602" y="0"/>
                </a:lnTo>
                <a:lnTo>
                  <a:pt x="10943091" y="15621"/>
                </a:lnTo>
                <a:lnTo>
                  <a:pt x="10968911" y="51661"/>
                </a:lnTo>
                <a:lnTo>
                  <a:pt x="10972798" y="71196"/>
                </a:lnTo>
                <a:lnTo>
                  <a:pt x="10972798" y="1224203"/>
                </a:lnTo>
                <a:lnTo>
                  <a:pt x="10957175" y="1265693"/>
                </a:lnTo>
                <a:lnTo>
                  <a:pt x="10921136" y="1291512"/>
                </a:lnTo>
                <a:lnTo>
                  <a:pt x="10906556" y="1294911"/>
                </a:lnTo>
                <a:lnTo>
                  <a:pt x="10901602" y="1295399"/>
                </a:lnTo>
                <a:close/>
              </a:path>
            </a:pathLst>
          </a:custGeom>
          <a:solidFill>
            <a:srgbClr val="ECFD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749299" y="6654171"/>
            <a:ext cx="229235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05">
                <a:solidFill>
                  <a:srgbClr val="047857"/>
                </a:solidFill>
                <a:latin typeface="Montserrat"/>
                <a:cs typeface="Montserrat"/>
              </a:rPr>
              <a:t>Complete</a:t>
            </a:r>
            <a:r>
              <a:rPr dirty="0" sz="1650" spc="-10">
                <a:solidFill>
                  <a:srgbClr val="047857"/>
                </a:solidFill>
                <a:latin typeface="Montserrat"/>
                <a:cs typeface="Montserrat"/>
              </a:rPr>
              <a:t> </a:t>
            </a:r>
            <a:r>
              <a:rPr dirty="0" sz="1650" spc="-105">
                <a:solidFill>
                  <a:srgbClr val="047857"/>
                </a:solidFill>
                <a:latin typeface="Montserrat"/>
                <a:cs typeface="Montserrat"/>
              </a:rPr>
              <a:t>Process</a:t>
            </a:r>
            <a:r>
              <a:rPr dirty="0" sz="1650" spc="-5">
                <a:solidFill>
                  <a:srgbClr val="047857"/>
                </a:solidFill>
                <a:latin typeface="Montserrat"/>
                <a:cs typeface="Montserrat"/>
              </a:rPr>
              <a:t> </a:t>
            </a:r>
            <a:r>
              <a:rPr dirty="0" sz="1650" spc="-80">
                <a:solidFill>
                  <a:srgbClr val="047857"/>
                </a:solidFill>
                <a:latin typeface="Montserrat"/>
                <a:cs typeface="Montserrat"/>
              </a:rPr>
              <a:t>Flow:</a:t>
            </a:r>
            <a:endParaRPr sz="1650">
              <a:latin typeface="Montserrat"/>
              <a:cs typeface="Montserra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2619374" y="7058024"/>
            <a:ext cx="809625" cy="609600"/>
            <a:chOff x="2619374" y="7058024"/>
            <a:chExt cx="809625" cy="609600"/>
          </a:xfrm>
        </p:grpSpPr>
        <p:sp>
          <p:nvSpPr>
            <p:cNvPr id="24" name="object 24" descr=""/>
            <p:cNvSpPr/>
            <p:nvPr/>
          </p:nvSpPr>
          <p:spPr>
            <a:xfrm>
              <a:off x="2619374" y="7058024"/>
              <a:ext cx="809625" cy="609600"/>
            </a:xfrm>
            <a:custGeom>
              <a:avLst/>
              <a:gdLst/>
              <a:ahLst/>
              <a:cxnLst/>
              <a:rect l="l" t="t" r="r" b="b"/>
              <a:pathLst>
                <a:path w="809625" h="609600">
                  <a:moveTo>
                    <a:pt x="756227" y="609599"/>
                  </a:moveTo>
                  <a:lnTo>
                    <a:pt x="53397" y="609599"/>
                  </a:lnTo>
                  <a:lnTo>
                    <a:pt x="49680" y="609233"/>
                  </a:lnTo>
                  <a:lnTo>
                    <a:pt x="14084" y="590206"/>
                  </a:lnTo>
                  <a:lnTo>
                    <a:pt x="0" y="556202"/>
                  </a:lnTo>
                  <a:lnTo>
                    <a:pt x="0" y="552449"/>
                  </a:lnTo>
                  <a:lnTo>
                    <a:pt x="0" y="53397"/>
                  </a:lnTo>
                  <a:lnTo>
                    <a:pt x="19391" y="14084"/>
                  </a:lnTo>
                  <a:lnTo>
                    <a:pt x="53397" y="0"/>
                  </a:lnTo>
                  <a:lnTo>
                    <a:pt x="756227" y="0"/>
                  </a:lnTo>
                  <a:lnTo>
                    <a:pt x="795539" y="19391"/>
                  </a:lnTo>
                  <a:lnTo>
                    <a:pt x="809624" y="53397"/>
                  </a:lnTo>
                  <a:lnTo>
                    <a:pt x="809624" y="556202"/>
                  </a:lnTo>
                  <a:lnTo>
                    <a:pt x="790232" y="595514"/>
                  </a:lnTo>
                  <a:lnTo>
                    <a:pt x="759943" y="609233"/>
                  </a:lnTo>
                  <a:lnTo>
                    <a:pt x="756227" y="609599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3840" y="7133889"/>
              <a:ext cx="191169" cy="191169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2684809" y="7343901"/>
            <a:ext cx="676275" cy="22732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00" spc="-55">
                <a:latin typeface="Montserrat"/>
                <a:cs typeface="Montserrat"/>
              </a:rPr>
              <a:t>Sunlight</a:t>
            </a:r>
            <a:endParaRPr sz="1300">
              <a:latin typeface="Montserrat"/>
              <a:cs typeface="Montserrat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3581400" y="7058024"/>
            <a:ext cx="1628775" cy="609600"/>
            <a:chOff x="3581400" y="7058024"/>
            <a:chExt cx="1628775" cy="609600"/>
          </a:xfrm>
        </p:grpSpPr>
        <p:pic>
          <p:nvPicPr>
            <p:cNvPr id="28" name="object 2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81400" y="7304721"/>
              <a:ext cx="134272" cy="116204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3867149" y="7058024"/>
              <a:ext cx="1343025" cy="609600"/>
            </a:xfrm>
            <a:custGeom>
              <a:avLst/>
              <a:gdLst/>
              <a:ahLst/>
              <a:cxnLst/>
              <a:rect l="l" t="t" r="r" b="b"/>
              <a:pathLst>
                <a:path w="1343025" h="609600">
                  <a:moveTo>
                    <a:pt x="1289627" y="609599"/>
                  </a:moveTo>
                  <a:lnTo>
                    <a:pt x="53397" y="609599"/>
                  </a:lnTo>
                  <a:lnTo>
                    <a:pt x="49680" y="609233"/>
                  </a:lnTo>
                  <a:lnTo>
                    <a:pt x="14085" y="590206"/>
                  </a:lnTo>
                  <a:lnTo>
                    <a:pt x="0" y="556202"/>
                  </a:lnTo>
                  <a:lnTo>
                    <a:pt x="0" y="552449"/>
                  </a:lnTo>
                  <a:lnTo>
                    <a:pt x="0" y="53397"/>
                  </a:lnTo>
                  <a:lnTo>
                    <a:pt x="19392" y="14084"/>
                  </a:lnTo>
                  <a:lnTo>
                    <a:pt x="53397" y="0"/>
                  </a:lnTo>
                  <a:lnTo>
                    <a:pt x="1289627" y="0"/>
                  </a:lnTo>
                  <a:lnTo>
                    <a:pt x="1328939" y="19391"/>
                  </a:lnTo>
                  <a:lnTo>
                    <a:pt x="1343024" y="53397"/>
                  </a:lnTo>
                  <a:lnTo>
                    <a:pt x="1343024" y="556202"/>
                  </a:lnTo>
                  <a:lnTo>
                    <a:pt x="1323632" y="595514"/>
                  </a:lnTo>
                  <a:lnTo>
                    <a:pt x="1293343" y="609233"/>
                  </a:lnTo>
                  <a:lnTo>
                    <a:pt x="1289627" y="6095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59076" y="7133219"/>
              <a:ext cx="144884" cy="192509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3925887" y="7343901"/>
            <a:ext cx="1217930" cy="22732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00" spc="-65">
                <a:latin typeface="Montserrat"/>
                <a:cs typeface="Montserrat"/>
              </a:rPr>
              <a:t>Light</a:t>
            </a:r>
            <a:r>
              <a:rPr dirty="0" sz="1300">
                <a:latin typeface="Montserrat"/>
                <a:cs typeface="Montserrat"/>
              </a:rPr>
              <a:t> </a:t>
            </a:r>
            <a:r>
              <a:rPr dirty="0" sz="1300" spc="-50">
                <a:latin typeface="Montserrat"/>
                <a:cs typeface="Montserrat"/>
              </a:rPr>
              <a:t>Reactions</a:t>
            </a:r>
            <a:endParaRPr sz="1300">
              <a:latin typeface="Montserrat"/>
              <a:cs typeface="Montserrat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5362574" y="7058024"/>
            <a:ext cx="1504950" cy="609600"/>
            <a:chOff x="5362574" y="7058024"/>
            <a:chExt cx="1504950" cy="609600"/>
          </a:xfrm>
        </p:grpSpPr>
        <p:pic>
          <p:nvPicPr>
            <p:cNvPr id="33" name="object 3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62574" y="7304721"/>
              <a:ext cx="134272" cy="116204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5648324" y="7058024"/>
              <a:ext cx="1219200" cy="609600"/>
            </a:xfrm>
            <a:custGeom>
              <a:avLst/>
              <a:gdLst/>
              <a:ahLst/>
              <a:cxnLst/>
              <a:rect l="l" t="t" r="r" b="b"/>
              <a:pathLst>
                <a:path w="1219200" h="609600">
                  <a:moveTo>
                    <a:pt x="1165801" y="609599"/>
                  </a:moveTo>
                  <a:lnTo>
                    <a:pt x="53397" y="609599"/>
                  </a:lnTo>
                  <a:lnTo>
                    <a:pt x="49680" y="609233"/>
                  </a:lnTo>
                  <a:lnTo>
                    <a:pt x="14084" y="590206"/>
                  </a:lnTo>
                  <a:lnTo>
                    <a:pt x="0" y="556202"/>
                  </a:lnTo>
                  <a:lnTo>
                    <a:pt x="0" y="552449"/>
                  </a:lnTo>
                  <a:lnTo>
                    <a:pt x="0" y="53397"/>
                  </a:lnTo>
                  <a:lnTo>
                    <a:pt x="19391" y="14084"/>
                  </a:lnTo>
                  <a:lnTo>
                    <a:pt x="53397" y="0"/>
                  </a:lnTo>
                  <a:lnTo>
                    <a:pt x="1165801" y="0"/>
                  </a:lnTo>
                  <a:lnTo>
                    <a:pt x="1205114" y="19391"/>
                  </a:lnTo>
                  <a:lnTo>
                    <a:pt x="1219199" y="53397"/>
                  </a:lnTo>
                  <a:lnTo>
                    <a:pt x="1219199" y="556202"/>
                  </a:lnTo>
                  <a:lnTo>
                    <a:pt x="1199806" y="595514"/>
                  </a:lnTo>
                  <a:lnTo>
                    <a:pt x="1169518" y="609233"/>
                  </a:lnTo>
                  <a:lnTo>
                    <a:pt x="1165801" y="609599"/>
                  </a:lnTo>
                  <a:close/>
                </a:path>
              </a:pathLst>
            </a:custGeom>
            <a:solidFill>
              <a:srgbClr val="ECE8F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53149" y="7169943"/>
              <a:ext cx="214312" cy="119062"/>
            </a:xfrm>
            <a:prstGeom prst="rect">
              <a:avLst/>
            </a:prstGeom>
          </p:spPr>
        </p:pic>
      </p:grpSp>
      <p:sp>
        <p:nvSpPr>
          <p:cNvPr id="36" name="object 36" descr=""/>
          <p:cNvSpPr txBox="1"/>
          <p:nvPr/>
        </p:nvSpPr>
        <p:spPr>
          <a:xfrm>
            <a:off x="5708848" y="7343901"/>
            <a:ext cx="1099185" cy="22732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00" spc="-85">
                <a:latin typeface="Montserrat"/>
                <a:cs typeface="Montserrat"/>
              </a:rPr>
              <a:t>ATP</a:t>
            </a:r>
            <a:r>
              <a:rPr dirty="0" sz="1300" spc="-30">
                <a:latin typeface="Montserrat"/>
                <a:cs typeface="Montserrat"/>
              </a:rPr>
              <a:t> </a:t>
            </a:r>
            <a:r>
              <a:rPr dirty="0" sz="1300" spc="-70">
                <a:latin typeface="Montserrat"/>
                <a:cs typeface="Montserrat"/>
              </a:rPr>
              <a:t>&amp;</a:t>
            </a:r>
            <a:r>
              <a:rPr dirty="0" sz="1300" spc="-30">
                <a:latin typeface="Montserrat"/>
                <a:cs typeface="Montserrat"/>
              </a:rPr>
              <a:t> </a:t>
            </a:r>
            <a:r>
              <a:rPr dirty="0" sz="1300" spc="-80">
                <a:latin typeface="Montserrat"/>
                <a:cs typeface="Montserrat"/>
              </a:rPr>
              <a:t>NADPH</a:t>
            </a:r>
            <a:endParaRPr sz="1300">
              <a:latin typeface="Montserrat"/>
              <a:cs typeface="Montserrat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7019925" y="7058024"/>
            <a:ext cx="1352550" cy="609600"/>
            <a:chOff x="7019925" y="7058024"/>
            <a:chExt cx="1352550" cy="609600"/>
          </a:xfrm>
        </p:grpSpPr>
        <p:pic>
          <p:nvPicPr>
            <p:cNvPr id="38" name="object 3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19925" y="7304721"/>
              <a:ext cx="134272" cy="116204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7305674" y="7058024"/>
              <a:ext cx="1066800" cy="609600"/>
            </a:xfrm>
            <a:custGeom>
              <a:avLst/>
              <a:gdLst/>
              <a:ahLst/>
              <a:cxnLst/>
              <a:rect l="l" t="t" r="r" b="b"/>
              <a:pathLst>
                <a:path w="1066800" h="609600">
                  <a:moveTo>
                    <a:pt x="1013402" y="609599"/>
                  </a:moveTo>
                  <a:lnTo>
                    <a:pt x="53397" y="609599"/>
                  </a:lnTo>
                  <a:lnTo>
                    <a:pt x="49681" y="609233"/>
                  </a:lnTo>
                  <a:lnTo>
                    <a:pt x="14084" y="590206"/>
                  </a:lnTo>
                  <a:lnTo>
                    <a:pt x="0" y="556202"/>
                  </a:lnTo>
                  <a:lnTo>
                    <a:pt x="0" y="552449"/>
                  </a:lnTo>
                  <a:lnTo>
                    <a:pt x="0" y="53397"/>
                  </a:lnTo>
                  <a:lnTo>
                    <a:pt x="19391" y="14084"/>
                  </a:lnTo>
                  <a:lnTo>
                    <a:pt x="53397" y="0"/>
                  </a:lnTo>
                  <a:lnTo>
                    <a:pt x="1013402" y="0"/>
                  </a:lnTo>
                  <a:lnTo>
                    <a:pt x="1052715" y="19391"/>
                  </a:lnTo>
                  <a:lnTo>
                    <a:pt x="1066799" y="53397"/>
                  </a:lnTo>
                  <a:lnTo>
                    <a:pt x="1066799" y="556202"/>
                  </a:lnTo>
                  <a:lnTo>
                    <a:pt x="1047407" y="595514"/>
                  </a:lnTo>
                  <a:lnTo>
                    <a:pt x="1017118" y="609233"/>
                  </a:lnTo>
                  <a:lnTo>
                    <a:pt x="1013402" y="609599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43824" y="7134224"/>
              <a:ext cx="190536" cy="188230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/>
          <p:nvPr/>
        </p:nvSpPr>
        <p:spPr>
          <a:xfrm>
            <a:off x="7373044" y="7343901"/>
            <a:ext cx="935990" cy="22732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00" spc="-65">
                <a:latin typeface="Montserrat"/>
                <a:cs typeface="Montserrat"/>
              </a:rPr>
              <a:t>Calvin</a:t>
            </a:r>
            <a:r>
              <a:rPr dirty="0" sz="1300" spc="5">
                <a:latin typeface="Montserrat"/>
                <a:cs typeface="Montserrat"/>
              </a:rPr>
              <a:t> </a:t>
            </a:r>
            <a:r>
              <a:rPr dirty="0" sz="1300" spc="-50">
                <a:latin typeface="Montserrat"/>
                <a:cs typeface="Montserrat"/>
              </a:rPr>
              <a:t>Cycle</a:t>
            </a:r>
            <a:endParaRPr sz="1300">
              <a:latin typeface="Montserrat"/>
              <a:cs typeface="Montserrat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8524875" y="7058024"/>
            <a:ext cx="1047750" cy="609600"/>
            <a:chOff x="8524875" y="7058024"/>
            <a:chExt cx="1047750" cy="609600"/>
          </a:xfrm>
        </p:grpSpPr>
        <p:pic>
          <p:nvPicPr>
            <p:cNvPr id="43" name="object 4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24875" y="7304721"/>
              <a:ext cx="134272" cy="116204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8810624" y="7058024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708602" y="609599"/>
                  </a:moveTo>
                  <a:lnTo>
                    <a:pt x="53397" y="609599"/>
                  </a:lnTo>
                  <a:lnTo>
                    <a:pt x="49680" y="609233"/>
                  </a:lnTo>
                  <a:lnTo>
                    <a:pt x="14084" y="590206"/>
                  </a:lnTo>
                  <a:lnTo>
                    <a:pt x="0" y="556202"/>
                  </a:lnTo>
                  <a:lnTo>
                    <a:pt x="0" y="552449"/>
                  </a:lnTo>
                  <a:lnTo>
                    <a:pt x="0" y="53397"/>
                  </a:lnTo>
                  <a:lnTo>
                    <a:pt x="19392" y="14084"/>
                  </a:lnTo>
                  <a:lnTo>
                    <a:pt x="53397" y="0"/>
                  </a:lnTo>
                  <a:lnTo>
                    <a:pt x="708602" y="0"/>
                  </a:lnTo>
                  <a:lnTo>
                    <a:pt x="747914" y="19391"/>
                  </a:lnTo>
                  <a:lnTo>
                    <a:pt x="761999" y="53397"/>
                  </a:lnTo>
                  <a:lnTo>
                    <a:pt x="761999" y="556202"/>
                  </a:lnTo>
                  <a:lnTo>
                    <a:pt x="742607" y="595514"/>
                  </a:lnTo>
                  <a:lnTo>
                    <a:pt x="712319" y="609233"/>
                  </a:lnTo>
                  <a:lnTo>
                    <a:pt x="708602" y="609599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05900" y="7134224"/>
              <a:ext cx="166724" cy="190499"/>
            </a:xfrm>
            <a:prstGeom prst="rect">
              <a:avLst/>
            </a:prstGeom>
          </p:spPr>
        </p:pic>
      </p:grpSp>
      <p:sp>
        <p:nvSpPr>
          <p:cNvPr id="46" name="object 46" descr=""/>
          <p:cNvSpPr txBox="1"/>
          <p:nvPr/>
        </p:nvSpPr>
        <p:spPr>
          <a:xfrm>
            <a:off x="8873976" y="7343901"/>
            <a:ext cx="633095" cy="22732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00" spc="-60">
                <a:latin typeface="Montserrat"/>
                <a:cs typeface="Montserrat"/>
              </a:rPr>
              <a:t>Glucose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0" y="8105774"/>
            <a:ext cx="12192000" cy="95250"/>
          </a:xfrm>
          <a:custGeom>
            <a:avLst/>
            <a:gdLst/>
            <a:ahLst/>
            <a:cxnLst/>
            <a:rect l="l" t="t" r="r" b="b"/>
            <a:pathLst>
              <a:path w="12192000" h="95250">
                <a:moveTo>
                  <a:pt x="12191999" y="95249"/>
                </a:moveTo>
                <a:lnTo>
                  <a:pt x="0" y="952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9"/>
                </a:lnTo>
                <a:close/>
              </a:path>
            </a:pathLst>
          </a:custGeom>
          <a:solidFill>
            <a:srgbClr val="2D8B4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8" name="object 48" descr=""/>
          <p:cNvGrpSpPr/>
          <p:nvPr/>
        </p:nvGrpSpPr>
        <p:grpSpPr>
          <a:xfrm>
            <a:off x="10401299" y="7686675"/>
            <a:ext cx="1600200" cy="323850"/>
            <a:chOff x="10401299" y="7686675"/>
            <a:chExt cx="1600200" cy="323850"/>
          </a:xfrm>
        </p:grpSpPr>
        <p:sp>
          <p:nvSpPr>
            <p:cNvPr id="49" name="object 49" descr=""/>
            <p:cNvSpPr/>
            <p:nvPr/>
          </p:nvSpPr>
          <p:spPr>
            <a:xfrm>
              <a:off x="10401299" y="7686675"/>
              <a:ext cx="1600200" cy="323850"/>
            </a:xfrm>
            <a:custGeom>
              <a:avLst/>
              <a:gdLst/>
              <a:ahLst/>
              <a:cxnLst/>
              <a:rect l="l" t="t" r="r" b="b"/>
              <a:pathLst>
                <a:path w="1600200" h="323850">
                  <a:moveTo>
                    <a:pt x="15671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567152" y="0"/>
                  </a:lnTo>
                  <a:lnTo>
                    <a:pt x="1599233" y="28187"/>
                  </a:lnTo>
                  <a:lnTo>
                    <a:pt x="1600199" y="33047"/>
                  </a:lnTo>
                  <a:lnTo>
                    <a:pt x="1600199" y="290802"/>
                  </a:lnTo>
                  <a:lnTo>
                    <a:pt x="1572012" y="322883"/>
                  </a:lnTo>
                  <a:lnTo>
                    <a:pt x="15671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515599" y="7781924"/>
              <a:ext cx="133349" cy="133349"/>
            </a:xfrm>
            <a:prstGeom prst="rect">
              <a:avLst/>
            </a:prstGeom>
          </p:spPr>
        </p:pic>
      </p:grpSp>
      <p:sp>
        <p:nvSpPr>
          <p:cNvPr id="51" name="object 51" descr=""/>
          <p:cNvSpPr txBox="1"/>
          <p:nvPr/>
        </p:nvSpPr>
        <p:spPr>
          <a:xfrm>
            <a:off x="10689232" y="7789074"/>
            <a:ext cx="1210945" cy="1327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9"/>
              </a:lnSpc>
            </a:pPr>
            <a:r>
              <a:rPr dirty="0" sz="1000" spc="-80">
                <a:solidFill>
                  <a:srgbClr val="FFFFFF"/>
                </a:solidFill>
                <a:latin typeface="Montserrat"/>
                <a:cs typeface="Montserrat"/>
              </a:rPr>
              <a:t>Made</a:t>
            </a:r>
            <a:r>
              <a:rPr dirty="0" sz="1000" spc="-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000" spc="-60">
                <a:solidFill>
                  <a:srgbClr val="FFFFFF"/>
                </a:solidFill>
                <a:latin typeface="Montserrat"/>
                <a:cs typeface="Montserrat"/>
              </a:rPr>
              <a:t>with</a:t>
            </a:r>
            <a:r>
              <a:rPr dirty="0" sz="1000" spc="-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Montserrat"/>
                <a:cs typeface="Montserrat"/>
              </a:rPr>
              <a:t>Genspark</a:t>
            </a:r>
            <a:endParaRPr sz="10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254"/>
              <a:t>Importance</a:t>
            </a:r>
            <a:r>
              <a:rPr dirty="0" spc="-100"/>
              <a:t> </a:t>
            </a:r>
            <a:r>
              <a:rPr dirty="0" spc="-295"/>
              <a:t>&amp;</a:t>
            </a:r>
            <a:r>
              <a:rPr dirty="0" spc="-100"/>
              <a:t> </a:t>
            </a:r>
            <a:r>
              <a:rPr dirty="0" spc="-250"/>
              <a:t>Real-</a:t>
            </a:r>
            <a:r>
              <a:rPr dirty="0" spc="-295"/>
              <a:t>World</a:t>
            </a:r>
            <a:r>
              <a:rPr dirty="0" spc="-100"/>
              <a:t> </a:t>
            </a:r>
            <a:r>
              <a:rPr dirty="0" spc="-210"/>
              <a:t>Applications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6899" y="1125727"/>
            <a:ext cx="8418195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650865" algn="l"/>
              </a:tabLst>
            </a:pPr>
            <a:r>
              <a:rPr dirty="0" sz="1950" spc="-150">
                <a:solidFill>
                  <a:srgbClr val="047857"/>
                </a:solidFill>
                <a:latin typeface="Montserrat"/>
                <a:cs typeface="Montserrat"/>
              </a:rPr>
              <a:t>Why</a:t>
            </a:r>
            <a:r>
              <a:rPr dirty="0" sz="1950" spc="-15">
                <a:solidFill>
                  <a:srgbClr val="047857"/>
                </a:solidFill>
                <a:latin typeface="Montserrat"/>
                <a:cs typeface="Montserrat"/>
              </a:rPr>
              <a:t> </a:t>
            </a:r>
            <a:r>
              <a:rPr dirty="0" sz="1950" spc="-90">
                <a:solidFill>
                  <a:srgbClr val="047857"/>
                </a:solidFill>
                <a:latin typeface="Montserrat"/>
                <a:cs typeface="Montserrat"/>
              </a:rPr>
              <a:t>Photosynthesis</a:t>
            </a:r>
            <a:r>
              <a:rPr dirty="0" sz="1950" spc="-15">
                <a:solidFill>
                  <a:srgbClr val="047857"/>
                </a:solidFill>
                <a:latin typeface="Montserrat"/>
                <a:cs typeface="Montserrat"/>
              </a:rPr>
              <a:t> </a:t>
            </a:r>
            <a:r>
              <a:rPr dirty="0" sz="1950" spc="-10">
                <a:solidFill>
                  <a:srgbClr val="047857"/>
                </a:solidFill>
                <a:latin typeface="Montserrat"/>
                <a:cs typeface="Montserrat"/>
              </a:rPr>
              <a:t>Matters</a:t>
            </a:r>
            <a:r>
              <a:rPr dirty="0" sz="1950">
                <a:solidFill>
                  <a:srgbClr val="047857"/>
                </a:solidFill>
                <a:latin typeface="Montserrat"/>
                <a:cs typeface="Montserrat"/>
              </a:rPr>
              <a:t>	</a:t>
            </a:r>
            <a:r>
              <a:rPr dirty="0" sz="1950" spc="-105">
                <a:solidFill>
                  <a:srgbClr val="047857"/>
                </a:solidFill>
                <a:latin typeface="Montserrat"/>
                <a:cs typeface="Montserrat"/>
              </a:rPr>
              <a:t>Real-</a:t>
            </a:r>
            <a:r>
              <a:rPr dirty="0" sz="1950" spc="-130">
                <a:solidFill>
                  <a:srgbClr val="047857"/>
                </a:solidFill>
                <a:latin typeface="Montserrat"/>
                <a:cs typeface="Montserrat"/>
              </a:rPr>
              <a:t>World</a:t>
            </a:r>
            <a:r>
              <a:rPr dirty="0" sz="1950" spc="30">
                <a:solidFill>
                  <a:srgbClr val="047857"/>
                </a:solidFill>
                <a:latin typeface="Montserrat"/>
                <a:cs typeface="Montserrat"/>
              </a:rPr>
              <a:t> </a:t>
            </a:r>
            <a:r>
              <a:rPr dirty="0" sz="1950" spc="-75">
                <a:solidFill>
                  <a:srgbClr val="047857"/>
                </a:solidFill>
                <a:latin typeface="Montserrat"/>
                <a:cs typeface="Montserrat"/>
              </a:rPr>
              <a:t>Applications</a:t>
            </a:r>
            <a:endParaRPr sz="1950">
              <a:latin typeface="Montserrat"/>
              <a:cs typeface="Montserra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09599" y="1657349"/>
            <a:ext cx="304800" cy="381000"/>
            <a:chOff x="609599" y="1657349"/>
            <a:chExt cx="304800" cy="381000"/>
          </a:xfrm>
        </p:grpSpPr>
        <p:sp>
          <p:nvSpPr>
            <p:cNvPr id="5" name="object 5" descr=""/>
            <p:cNvSpPr/>
            <p:nvPr/>
          </p:nvSpPr>
          <p:spPr>
            <a:xfrm>
              <a:off x="609599" y="1657349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152399" y="380999"/>
                  </a:moveTo>
                  <a:lnTo>
                    <a:pt x="108160" y="374439"/>
                  </a:lnTo>
                  <a:lnTo>
                    <a:pt x="67731" y="355315"/>
                  </a:lnTo>
                  <a:lnTo>
                    <a:pt x="34591" y="325282"/>
                  </a:lnTo>
                  <a:lnTo>
                    <a:pt x="11600" y="286920"/>
                  </a:lnTo>
                  <a:lnTo>
                    <a:pt x="732" y="243537"/>
                  </a:lnTo>
                  <a:lnTo>
                    <a:pt x="0" y="228599"/>
                  </a:lnTo>
                  <a:lnTo>
                    <a:pt x="0" y="152399"/>
                  </a:lnTo>
                  <a:lnTo>
                    <a:pt x="6560" y="108159"/>
                  </a:lnTo>
                  <a:lnTo>
                    <a:pt x="25683" y="67730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2" y="732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799" y="228599"/>
                  </a:lnTo>
                  <a:lnTo>
                    <a:pt x="298239" y="272839"/>
                  </a:lnTo>
                  <a:lnTo>
                    <a:pt x="279115" y="313268"/>
                  </a:lnTo>
                  <a:lnTo>
                    <a:pt x="249082" y="346408"/>
                  </a:lnTo>
                  <a:lnTo>
                    <a:pt x="210720" y="369398"/>
                  </a:lnTo>
                  <a:lnTo>
                    <a:pt x="167337" y="380267"/>
                  </a:lnTo>
                  <a:lnTo>
                    <a:pt x="152399" y="380999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799" y="1762124"/>
              <a:ext cx="152399" cy="152399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016000" y="1568458"/>
            <a:ext cx="4382135" cy="71628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350" spc="-120" b="1">
                <a:solidFill>
                  <a:srgbClr val="333333"/>
                </a:solidFill>
                <a:latin typeface="Montserrat SemiBold"/>
                <a:cs typeface="Montserrat SemiBold"/>
              </a:rPr>
              <a:t>Oxygen</a:t>
            </a:r>
            <a:r>
              <a:rPr dirty="0" sz="1350" spc="-40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350" spc="-10" b="1">
                <a:solidFill>
                  <a:srgbClr val="333333"/>
                </a:solidFill>
                <a:latin typeface="Montserrat SemiBold"/>
                <a:cs typeface="Montserrat SemiBold"/>
              </a:rPr>
              <a:t>Production</a:t>
            </a:r>
            <a:endParaRPr sz="1350">
              <a:latin typeface="Montserrat SemiBold"/>
              <a:cs typeface="Montserrat SemiBold"/>
            </a:endParaRPr>
          </a:p>
          <a:p>
            <a:pPr marL="12700" marR="5080">
              <a:lnSpc>
                <a:spcPts val="1800"/>
              </a:lnSpc>
              <a:spcBef>
                <a:spcPts val="90"/>
              </a:spcBef>
            </a:pPr>
            <a:r>
              <a:rPr dirty="0" sz="1300" spc="-80">
                <a:solidFill>
                  <a:srgbClr val="333333"/>
                </a:solidFill>
                <a:latin typeface="Montserrat"/>
                <a:cs typeface="Montserrat"/>
              </a:rPr>
              <a:t>Produces</a:t>
            </a:r>
            <a:r>
              <a:rPr dirty="0" sz="130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0">
                <a:solidFill>
                  <a:srgbClr val="333333"/>
                </a:solidFill>
                <a:latin typeface="Montserrat"/>
                <a:cs typeface="Montserrat"/>
              </a:rPr>
              <a:t>approximately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95">
                <a:solidFill>
                  <a:srgbClr val="333333"/>
                </a:solidFill>
                <a:latin typeface="Montserrat"/>
                <a:cs typeface="Montserrat"/>
              </a:rPr>
              <a:t>70%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Montserrat"/>
                <a:cs typeface="Montserrat"/>
              </a:rPr>
              <a:t>of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Montserrat"/>
                <a:cs typeface="Montserrat"/>
              </a:rPr>
              <a:t>Earth's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0">
                <a:solidFill>
                  <a:srgbClr val="333333"/>
                </a:solidFill>
                <a:latin typeface="Montserrat"/>
                <a:cs typeface="Montserrat"/>
              </a:rPr>
              <a:t>oxygen,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80">
                <a:solidFill>
                  <a:srgbClr val="333333"/>
                </a:solidFill>
                <a:latin typeface="Montserrat"/>
                <a:cs typeface="Montserrat"/>
              </a:rPr>
              <a:t>making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25">
                <a:solidFill>
                  <a:srgbClr val="333333"/>
                </a:solidFill>
                <a:latin typeface="Montserrat"/>
                <a:cs typeface="Montserrat"/>
              </a:rPr>
              <a:t>it </a:t>
            </a:r>
            <a:r>
              <a:rPr dirty="0" sz="1300" spc="-55">
                <a:solidFill>
                  <a:srgbClr val="333333"/>
                </a:solidFill>
                <a:latin typeface="Montserrat"/>
                <a:cs typeface="Montserrat"/>
              </a:rPr>
              <a:t>essential</a:t>
            </a:r>
            <a:r>
              <a:rPr dirty="0" sz="1300" spc="-2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Montserrat"/>
                <a:cs typeface="Montserrat"/>
              </a:rPr>
              <a:t>for</a:t>
            </a:r>
            <a:r>
              <a:rPr dirty="0" sz="1300" spc="-2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45">
                <a:solidFill>
                  <a:srgbClr val="333333"/>
                </a:solidFill>
                <a:latin typeface="Montserrat"/>
                <a:cs typeface="Montserrat"/>
              </a:rPr>
              <a:t>all</a:t>
            </a:r>
            <a:r>
              <a:rPr dirty="0" sz="1300" spc="-2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Montserrat"/>
                <a:cs typeface="Montserrat"/>
              </a:rPr>
              <a:t>aerobic</a:t>
            </a:r>
            <a:r>
              <a:rPr dirty="0" sz="130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Montserrat"/>
                <a:cs typeface="Montserrat"/>
              </a:rPr>
              <a:t>organisms</a:t>
            </a:r>
            <a:r>
              <a:rPr dirty="0" sz="1300" spc="-2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5">
                <a:solidFill>
                  <a:srgbClr val="333333"/>
                </a:solidFill>
                <a:latin typeface="Montserrat"/>
                <a:cs typeface="Montserrat"/>
              </a:rPr>
              <a:t>to</a:t>
            </a:r>
            <a:r>
              <a:rPr dirty="0" sz="1300" spc="-2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Montserrat"/>
                <a:cs typeface="Montserrat"/>
              </a:rPr>
              <a:t>breathe</a:t>
            </a:r>
            <a:r>
              <a:rPr dirty="0" sz="1300" spc="-2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5">
                <a:solidFill>
                  <a:srgbClr val="333333"/>
                </a:solidFill>
                <a:latin typeface="Montserrat"/>
                <a:cs typeface="Montserrat"/>
              </a:rPr>
              <a:t>and</a:t>
            </a:r>
            <a:r>
              <a:rPr dirty="0" sz="130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30">
                <a:solidFill>
                  <a:srgbClr val="333333"/>
                </a:solidFill>
                <a:latin typeface="Montserrat"/>
                <a:cs typeface="Montserrat"/>
              </a:rPr>
              <a:t>survive.</a:t>
            </a:r>
            <a:endParaRPr sz="1300">
              <a:latin typeface="Montserrat"/>
              <a:cs typeface="Montserra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609599" y="2495549"/>
            <a:ext cx="342900" cy="381000"/>
            <a:chOff x="609599" y="2495549"/>
            <a:chExt cx="342900" cy="381000"/>
          </a:xfrm>
        </p:grpSpPr>
        <p:sp>
          <p:nvSpPr>
            <p:cNvPr id="9" name="object 9" descr=""/>
            <p:cNvSpPr/>
            <p:nvPr/>
          </p:nvSpPr>
          <p:spPr>
            <a:xfrm>
              <a:off x="609599" y="2495549"/>
              <a:ext cx="342900" cy="381000"/>
            </a:xfrm>
            <a:custGeom>
              <a:avLst/>
              <a:gdLst/>
              <a:ahLst/>
              <a:cxnLst/>
              <a:rect l="l" t="t" r="r" b="b"/>
              <a:pathLst>
                <a:path w="342900" h="381000">
                  <a:moveTo>
                    <a:pt x="171449" y="380999"/>
                  </a:moveTo>
                  <a:lnTo>
                    <a:pt x="129780" y="375860"/>
                  </a:lnTo>
                  <a:lnTo>
                    <a:pt x="90628" y="360757"/>
                  </a:lnTo>
                  <a:lnTo>
                    <a:pt x="56317" y="336593"/>
                  </a:lnTo>
                  <a:lnTo>
                    <a:pt x="28894" y="304801"/>
                  </a:lnTo>
                  <a:lnTo>
                    <a:pt x="10017" y="267300"/>
                  </a:lnTo>
                  <a:lnTo>
                    <a:pt x="823" y="226355"/>
                  </a:lnTo>
                  <a:lnTo>
                    <a:pt x="0" y="209549"/>
                  </a:lnTo>
                  <a:lnTo>
                    <a:pt x="0" y="171449"/>
                  </a:lnTo>
                  <a:lnTo>
                    <a:pt x="5139" y="129780"/>
                  </a:lnTo>
                  <a:lnTo>
                    <a:pt x="20242" y="90627"/>
                  </a:lnTo>
                  <a:lnTo>
                    <a:pt x="44406" y="56317"/>
                  </a:lnTo>
                  <a:lnTo>
                    <a:pt x="76197" y="28894"/>
                  </a:lnTo>
                  <a:lnTo>
                    <a:pt x="113699" y="10017"/>
                  </a:lnTo>
                  <a:lnTo>
                    <a:pt x="154644" y="823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5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9" y="121679"/>
                  </a:lnTo>
                  <a:lnTo>
                    <a:pt x="342694" y="163027"/>
                  </a:lnTo>
                  <a:lnTo>
                    <a:pt x="342899" y="171449"/>
                  </a:lnTo>
                  <a:lnTo>
                    <a:pt x="342899" y="209549"/>
                  </a:lnTo>
                  <a:lnTo>
                    <a:pt x="337760" y="251218"/>
                  </a:lnTo>
                  <a:lnTo>
                    <a:pt x="322656" y="290371"/>
                  </a:lnTo>
                  <a:lnTo>
                    <a:pt x="298493" y="324681"/>
                  </a:lnTo>
                  <a:lnTo>
                    <a:pt x="266702" y="352105"/>
                  </a:lnTo>
                  <a:lnTo>
                    <a:pt x="229200" y="370982"/>
                  </a:lnTo>
                  <a:lnTo>
                    <a:pt x="188255" y="380176"/>
                  </a:lnTo>
                  <a:lnTo>
                    <a:pt x="171449" y="380999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1107" y="2606676"/>
              <a:ext cx="179883" cy="139697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1054100" y="2406658"/>
            <a:ext cx="4177029" cy="71628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350" spc="-100" b="1">
                <a:solidFill>
                  <a:srgbClr val="333333"/>
                </a:solidFill>
                <a:latin typeface="Montserrat SemiBold"/>
                <a:cs typeface="Montserrat SemiBold"/>
              </a:rPr>
              <a:t>Foundation</a:t>
            </a:r>
            <a:r>
              <a:rPr dirty="0" sz="1350" spc="-30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350" spc="-80" b="1">
                <a:solidFill>
                  <a:srgbClr val="333333"/>
                </a:solidFill>
                <a:latin typeface="Montserrat SemiBold"/>
                <a:cs typeface="Montserrat SemiBold"/>
              </a:rPr>
              <a:t>of</a:t>
            </a:r>
            <a:r>
              <a:rPr dirty="0" sz="1350" spc="-25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350" spc="-114" b="1">
                <a:solidFill>
                  <a:srgbClr val="333333"/>
                </a:solidFill>
                <a:latin typeface="Montserrat SemiBold"/>
                <a:cs typeface="Montserrat SemiBold"/>
              </a:rPr>
              <a:t>Food</a:t>
            </a:r>
            <a:r>
              <a:rPr dirty="0" sz="1350" spc="-25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350" spc="-10" b="1">
                <a:solidFill>
                  <a:srgbClr val="333333"/>
                </a:solidFill>
                <a:latin typeface="Montserrat SemiBold"/>
                <a:cs typeface="Montserrat SemiBold"/>
              </a:rPr>
              <a:t>Chains</a:t>
            </a:r>
            <a:endParaRPr sz="1350">
              <a:latin typeface="Montserrat SemiBold"/>
              <a:cs typeface="Montserrat SemiBold"/>
            </a:endParaRPr>
          </a:p>
          <a:p>
            <a:pPr marL="12700" marR="5080">
              <a:lnSpc>
                <a:spcPts val="1800"/>
              </a:lnSpc>
              <a:spcBef>
                <a:spcPts val="90"/>
              </a:spcBef>
            </a:pPr>
            <a:r>
              <a:rPr dirty="0" sz="1300" spc="-75">
                <a:solidFill>
                  <a:srgbClr val="333333"/>
                </a:solidFill>
                <a:latin typeface="Montserrat"/>
                <a:cs typeface="Montserrat"/>
              </a:rPr>
              <a:t>Creates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Montserrat"/>
                <a:cs typeface="Montserrat"/>
              </a:rPr>
              <a:t>the</a:t>
            </a:r>
            <a:r>
              <a:rPr dirty="0" sz="1300" spc="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5">
                <a:solidFill>
                  <a:srgbClr val="333333"/>
                </a:solidFill>
                <a:latin typeface="Montserrat"/>
                <a:cs typeface="Montserrat"/>
              </a:rPr>
              <a:t>energy-</a:t>
            </a:r>
            <a:r>
              <a:rPr dirty="0" sz="1300" spc="-60">
                <a:solidFill>
                  <a:srgbClr val="333333"/>
                </a:solidFill>
                <a:latin typeface="Montserrat"/>
                <a:cs typeface="Montserrat"/>
              </a:rPr>
              <a:t>rich</a:t>
            </a:r>
            <a:r>
              <a:rPr dirty="0" sz="1300" spc="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5">
                <a:solidFill>
                  <a:srgbClr val="333333"/>
                </a:solidFill>
                <a:latin typeface="Montserrat"/>
                <a:cs typeface="Montserrat"/>
              </a:rPr>
              <a:t>compounds</a:t>
            </a:r>
            <a:r>
              <a:rPr dirty="0" sz="1300" spc="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Montserrat"/>
                <a:cs typeface="Montserrat"/>
              </a:rPr>
              <a:t>that</a:t>
            </a:r>
            <a:r>
              <a:rPr dirty="0" sz="1300" spc="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Montserrat"/>
                <a:cs typeface="Montserrat"/>
              </a:rPr>
              <a:t>fuel</a:t>
            </a:r>
            <a:r>
              <a:rPr dirty="0" sz="1300" spc="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0">
                <a:solidFill>
                  <a:srgbClr val="333333"/>
                </a:solidFill>
                <a:latin typeface="Montserrat"/>
                <a:cs typeface="Montserrat"/>
              </a:rPr>
              <a:t>nearly</a:t>
            </a:r>
            <a:r>
              <a:rPr dirty="0" sz="1300" spc="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25">
                <a:solidFill>
                  <a:srgbClr val="333333"/>
                </a:solidFill>
                <a:latin typeface="Montserrat"/>
                <a:cs typeface="Montserrat"/>
              </a:rPr>
              <a:t>all </a:t>
            </a:r>
            <a:r>
              <a:rPr dirty="0" sz="1300" spc="-65">
                <a:solidFill>
                  <a:srgbClr val="333333"/>
                </a:solidFill>
                <a:latin typeface="Montserrat"/>
                <a:cs typeface="Montserrat"/>
              </a:rPr>
              <a:t>ecosystems,</a:t>
            </a:r>
            <a:r>
              <a:rPr dirty="0" sz="1300" spc="-2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Montserrat"/>
                <a:cs typeface="Montserrat"/>
              </a:rPr>
              <a:t>serving</a:t>
            </a:r>
            <a:r>
              <a:rPr dirty="0" sz="130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Montserrat"/>
                <a:cs typeface="Montserrat"/>
              </a:rPr>
              <a:t>as</a:t>
            </a:r>
            <a:r>
              <a:rPr dirty="0" sz="130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Montserrat"/>
                <a:cs typeface="Montserrat"/>
              </a:rPr>
              <a:t>the</a:t>
            </a:r>
            <a:r>
              <a:rPr dirty="0" sz="130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0">
                <a:solidFill>
                  <a:srgbClr val="333333"/>
                </a:solidFill>
                <a:latin typeface="Montserrat"/>
                <a:cs typeface="Montserrat"/>
              </a:rPr>
              <a:t>base</a:t>
            </a:r>
            <a:r>
              <a:rPr dirty="0" sz="130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Montserrat"/>
                <a:cs typeface="Montserrat"/>
              </a:rPr>
              <a:t>of</a:t>
            </a:r>
            <a:r>
              <a:rPr dirty="0" sz="130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Montserrat"/>
                <a:cs typeface="Montserrat"/>
              </a:rPr>
              <a:t>the</a:t>
            </a:r>
            <a:r>
              <a:rPr dirty="0" sz="130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0">
                <a:solidFill>
                  <a:srgbClr val="333333"/>
                </a:solidFill>
                <a:latin typeface="Montserrat"/>
                <a:cs typeface="Montserrat"/>
              </a:rPr>
              <a:t>food</a:t>
            </a:r>
            <a:r>
              <a:rPr dirty="0" sz="130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ontserrat"/>
                <a:cs typeface="Montserrat"/>
              </a:rPr>
              <a:t>pyramid.</a:t>
            </a:r>
            <a:endParaRPr sz="1300">
              <a:latin typeface="Montserrat"/>
              <a:cs typeface="Montserrat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09599" y="3333749"/>
            <a:ext cx="304800" cy="381000"/>
            <a:chOff x="609599" y="3333749"/>
            <a:chExt cx="304800" cy="381000"/>
          </a:xfrm>
        </p:grpSpPr>
        <p:sp>
          <p:nvSpPr>
            <p:cNvPr id="13" name="object 13" descr=""/>
            <p:cNvSpPr/>
            <p:nvPr/>
          </p:nvSpPr>
          <p:spPr>
            <a:xfrm>
              <a:off x="609599" y="3333749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152399" y="380999"/>
                  </a:moveTo>
                  <a:lnTo>
                    <a:pt x="108160" y="374438"/>
                  </a:lnTo>
                  <a:lnTo>
                    <a:pt x="67731" y="355314"/>
                  </a:lnTo>
                  <a:lnTo>
                    <a:pt x="34591" y="325281"/>
                  </a:lnTo>
                  <a:lnTo>
                    <a:pt x="11600" y="286920"/>
                  </a:lnTo>
                  <a:lnTo>
                    <a:pt x="732" y="243537"/>
                  </a:lnTo>
                  <a:lnTo>
                    <a:pt x="0" y="228599"/>
                  </a:lnTo>
                  <a:lnTo>
                    <a:pt x="0" y="152399"/>
                  </a:lnTo>
                  <a:lnTo>
                    <a:pt x="6560" y="108159"/>
                  </a:lnTo>
                  <a:lnTo>
                    <a:pt x="25683" y="67730"/>
                  </a:lnTo>
                  <a:lnTo>
                    <a:pt x="55717" y="34591"/>
                  </a:lnTo>
                  <a:lnTo>
                    <a:pt x="94078" y="11600"/>
                  </a:lnTo>
                  <a:lnTo>
                    <a:pt x="137462" y="732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4" y="61607"/>
                  </a:lnTo>
                  <a:lnTo>
                    <a:pt x="295895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799" y="228599"/>
                  </a:lnTo>
                  <a:lnTo>
                    <a:pt x="298239" y="272839"/>
                  </a:lnTo>
                  <a:lnTo>
                    <a:pt x="279115" y="313268"/>
                  </a:lnTo>
                  <a:lnTo>
                    <a:pt x="249082" y="346407"/>
                  </a:lnTo>
                  <a:lnTo>
                    <a:pt x="210720" y="369398"/>
                  </a:lnTo>
                  <a:lnTo>
                    <a:pt x="167337" y="380267"/>
                  </a:lnTo>
                  <a:lnTo>
                    <a:pt x="152399" y="380999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799" y="3438524"/>
              <a:ext cx="152399" cy="152399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1016000" y="3244859"/>
            <a:ext cx="4697730" cy="71628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350" spc="-105" b="1">
                <a:solidFill>
                  <a:srgbClr val="333333"/>
                </a:solidFill>
                <a:latin typeface="Montserrat SemiBold"/>
                <a:cs typeface="Montserrat SemiBold"/>
              </a:rPr>
              <a:t>Climate</a:t>
            </a:r>
            <a:r>
              <a:rPr dirty="0" sz="1350" spc="10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350" spc="-10" b="1">
                <a:solidFill>
                  <a:srgbClr val="333333"/>
                </a:solidFill>
                <a:latin typeface="Montserrat SemiBold"/>
                <a:cs typeface="Montserrat SemiBold"/>
              </a:rPr>
              <a:t>Regulation</a:t>
            </a:r>
            <a:endParaRPr sz="1350">
              <a:latin typeface="Montserrat SemiBold"/>
              <a:cs typeface="Montserrat SemiBold"/>
            </a:endParaRPr>
          </a:p>
          <a:p>
            <a:pPr marL="12700" marR="5080">
              <a:lnSpc>
                <a:spcPts val="1800"/>
              </a:lnSpc>
              <a:spcBef>
                <a:spcPts val="90"/>
              </a:spcBef>
            </a:pPr>
            <a:r>
              <a:rPr dirty="0" sz="1300" spc="-75">
                <a:solidFill>
                  <a:srgbClr val="333333"/>
                </a:solidFill>
                <a:latin typeface="Montserrat"/>
                <a:cs typeface="Montserrat"/>
              </a:rPr>
              <a:t>Removes</a:t>
            </a:r>
            <a:r>
              <a:rPr dirty="0" sz="1300" spc="-2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5">
                <a:solidFill>
                  <a:srgbClr val="333333"/>
                </a:solidFill>
                <a:latin typeface="Montserrat"/>
                <a:cs typeface="Montserrat"/>
              </a:rPr>
              <a:t>CO</a:t>
            </a:r>
            <a:r>
              <a:rPr dirty="0" sz="1200" spc="-75">
                <a:solidFill>
                  <a:srgbClr val="333333"/>
                </a:solidFill>
                <a:latin typeface="DejaVu Sans"/>
                <a:cs typeface="DejaVu Sans"/>
              </a:rPr>
              <a:t>₂</a:t>
            </a:r>
            <a:r>
              <a:rPr dirty="0" sz="1200" spc="-55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1300" spc="-75">
                <a:solidFill>
                  <a:srgbClr val="333333"/>
                </a:solidFill>
                <a:latin typeface="Montserrat"/>
                <a:cs typeface="Montserrat"/>
              </a:rPr>
              <a:t>from</a:t>
            </a:r>
            <a:r>
              <a:rPr dirty="0" sz="1300" spc="-2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Montserrat"/>
                <a:cs typeface="Montserrat"/>
              </a:rPr>
              <a:t>the</a:t>
            </a:r>
            <a:r>
              <a:rPr dirty="0" sz="130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Montserrat"/>
                <a:cs typeface="Montserrat"/>
              </a:rPr>
              <a:t>atmosphere,</a:t>
            </a:r>
            <a:r>
              <a:rPr dirty="0" sz="1300" spc="-2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Montserrat"/>
                <a:cs typeface="Montserrat"/>
              </a:rPr>
              <a:t>helping</a:t>
            </a:r>
            <a:r>
              <a:rPr dirty="0" sz="1300" spc="-1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Montserrat"/>
                <a:cs typeface="Montserrat"/>
              </a:rPr>
              <a:t>mitigate</a:t>
            </a:r>
            <a:r>
              <a:rPr dirty="0" sz="1300" spc="-2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35">
                <a:solidFill>
                  <a:srgbClr val="333333"/>
                </a:solidFill>
                <a:latin typeface="Montserrat"/>
                <a:cs typeface="Montserrat"/>
              </a:rPr>
              <a:t>climate </a:t>
            </a:r>
            <a:r>
              <a:rPr dirty="0" sz="1300" spc="-80">
                <a:solidFill>
                  <a:srgbClr val="333333"/>
                </a:solidFill>
                <a:latin typeface="Montserrat"/>
                <a:cs typeface="Montserrat"/>
              </a:rPr>
              <a:t>change</a:t>
            </a:r>
            <a:r>
              <a:rPr dirty="0" sz="130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5">
                <a:solidFill>
                  <a:srgbClr val="333333"/>
                </a:solidFill>
                <a:latin typeface="Montserrat"/>
                <a:cs typeface="Montserrat"/>
              </a:rPr>
              <a:t>and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Montserrat"/>
                <a:cs typeface="Montserrat"/>
              </a:rPr>
              <a:t>global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5">
                <a:solidFill>
                  <a:srgbClr val="333333"/>
                </a:solidFill>
                <a:latin typeface="Montserrat"/>
                <a:cs typeface="Montserrat"/>
              </a:rPr>
              <a:t>warming</a:t>
            </a:r>
            <a:r>
              <a:rPr dirty="0" sz="130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ontserrat"/>
                <a:cs typeface="Montserrat"/>
              </a:rPr>
              <a:t>effects.</a:t>
            </a:r>
            <a:endParaRPr sz="1300">
              <a:latin typeface="Montserrat"/>
              <a:cs typeface="Montserrat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248399" y="1619249"/>
            <a:ext cx="5334000" cy="1028700"/>
            <a:chOff x="6248399" y="1619249"/>
            <a:chExt cx="5334000" cy="1028700"/>
          </a:xfrm>
        </p:grpSpPr>
        <p:sp>
          <p:nvSpPr>
            <p:cNvPr id="17" name="object 17" descr=""/>
            <p:cNvSpPr/>
            <p:nvPr/>
          </p:nvSpPr>
          <p:spPr>
            <a:xfrm>
              <a:off x="6267448" y="1619249"/>
              <a:ext cx="5314950" cy="1028700"/>
            </a:xfrm>
            <a:custGeom>
              <a:avLst/>
              <a:gdLst/>
              <a:ahLst/>
              <a:cxnLst/>
              <a:rect l="l" t="t" r="r" b="b"/>
              <a:pathLst>
                <a:path w="5314950" h="1028700">
                  <a:moveTo>
                    <a:pt x="5261552" y="1028699"/>
                  </a:moveTo>
                  <a:lnTo>
                    <a:pt x="33047" y="1028699"/>
                  </a:lnTo>
                  <a:lnTo>
                    <a:pt x="4833" y="1000421"/>
                  </a:lnTo>
                  <a:lnTo>
                    <a:pt x="0" y="979128"/>
                  </a:lnTo>
                  <a:lnTo>
                    <a:pt x="0" y="9715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261552" y="0"/>
                  </a:lnTo>
                  <a:lnTo>
                    <a:pt x="5300863" y="19392"/>
                  </a:lnTo>
                  <a:lnTo>
                    <a:pt x="5314949" y="53397"/>
                  </a:lnTo>
                  <a:lnTo>
                    <a:pt x="5314949" y="975302"/>
                  </a:lnTo>
                  <a:lnTo>
                    <a:pt x="5295557" y="1014614"/>
                  </a:lnTo>
                  <a:lnTo>
                    <a:pt x="5265268" y="1028333"/>
                  </a:lnTo>
                  <a:lnTo>
                    <a:pt x="5261552" y="1028699"/>
                  </a:lnTo>
                  <a:close/>
                </a:path>
              </a:pathLst>
            </a:custGeom>
            <a:solidFill>
              <a:srgbClr val="2D8B4A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248399" y="1619249"/>
              <a:ext cx="52069" cy="1028700"/>
            </a:xfrm>
            <a:custGeom>
              <a:avLst/>
              <a:gdLst/>
              <a:ahLst/>
              <a:cxnLst/>
              <a:rect l="l" t="t" r="r" b="b"/>
              <a:pathLst>
                <a:path w="52070" h="1028700">
                  <a:moveTo>
                    <a:pt x="51890" y="1028699"/>
                  </a:moveTo>
                  <a:lnTo>
                    <a:pt x="49571" y="1028699"/>
                  </a:lnTo>
                  <a:lnTo>
                    <a:pt x="42280" y="1027249"/>
                  </a:lnTo>
                  <a:lnTo>
                    <a:pt x="7249" y="1000421"/>
                  </a:lnTo>
                  <a:lnTo>
                    <a:pt x="0" y="979128"/>
                  </a:lnTo>
                  <a:lnTo>
                    <a:pt x="0" y="49571"/>
                  </a:lnTo>
                  <a:lnTo>
                    <a:pt x="22097" y="11380"/>
                  </a:lnTo>
                  <a:lnTo>
                    <a:pt x="49571" y="0"/>
                  </a:lnTo>
                  <a:lnTo>
                    <a:pt x="51890" y="0"/>
                  </a:lnTo>
                  <a:lnTo>
                    <a:pt x="47399" y="5579"/>
                  </a:lnTo>
                  <a:lnTo>
                    <a:pt x="43680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971550"/>
                  </a:lnTo>
                  <a:lnTo>
                    <a:pt x="43680" y="1011961"/>
                  </a:lnTo>
                  <a:lnTo>
                    <a:pt x="47399" y="1023120"/>
                  </a:lnTo>
                  <a:lnTo>
                    <a:pt x="51890" y="1028699"/>
                  </a:lnTo>
                  <a:close/>
                </a:path>
              </a:pathLst>
            </a:custGeom>
            <a:solidFill>
              <a:srgbClr val="2D8B4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0799" y="1771649"/>
              <a:ext cx="190499" cy="190499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6248399" y="2800349"/>
            <a:ext cx="5334000" cy="1028700"/>
            <a:chOff x="6248399" y="2800349"/>
            <a:chExt cx="5334000" cy="1028700"/>
          </a:xfrm>
        </p:grpSpPr>
        <p:sp>
          <p:nvSpPr>
            <p:cNvPr id="21" name="object 21" descr=""/>
            <p:cNvSpPr/>
            <p:nvPr/>
          </p:nvSpPr>
          <p:spPr>
            <a:xfrm>
              <a:off x="6267448" y="2800349"/>
              <a:ext cx="5314950" cy="1028700"/>
            </a:xfrm>
            <a:custGeom>
              <a:avLst/>
              <a:gdLst/>
              <a:ahLst/>
              <a:cxnLst/>
              <a:rect l="l" t="t" r="r" b="b"/>
              <a:pathLst>
                <a:path w="5314950" h="1028700">
                  <a:moveTo>
                    <a:pt x="5261552" y="1028699"/>
                  </a:moveTo>
                  <a:lnTo>
                    <a:pt x="33047" y="1028699"/>
                  </a:lnTo>
                  <a:lnTo>
                    <a:pt x="28187" y="1027249"/>
                  </a:lnTo>
                  <a:lnTo>
                    <a:pt x="966" y="986418"/>
                  </a:lnTo>
                  <a:lnTo>
                    <a:pt x="0" y="979128"/>
                  </a:lnTo>
                  <a:lnTo>
                    <a:pt x="0" y="9715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261552" y="0"/>
                  </a:lnTo>
                  <a:lnTo>
                    <a:pt x="5300863" y="19392"/>
                  </a:lnTo>
                  <a:lnTo>
                    <a:pt x="5314949" y="53397"/>
                  </a:lnTo>
                  <a:lnTo>
                    <a:pt x="5314949" y="975302"/>
                  </a:lnTo>
                  <a:lnTo>
                    <a:pt x="5295557" y="1014614"/>
                  </a:lnTo>
                  <a:lnTo>
                    <a:pt x="5265268" y="1028333"/>
                  </a:lnTo>
                  <a:lnTo>
                    <a:pt x="5261552" y="1028699"/>
                  </a:lnTo>
                  <a:close/>
                </a:path>
              </a:pathLst>
            </a:custGeom>
            <a:solidFill>
              <a:srgbClr val="2D8B4A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248399" y="2800349"/>
              <a:ext cx="52069" cy="1028700"/>
            </a:xfrm>
            <a:custGeom>
              <a:avLst/>
              <a:gdLst/>
              <a:ahLst/>
              <a:cxnLst/>
              <a:rect l="l" t="t" r="r" b="b"/>
              <a:pathLst>
                <a:path w="52070" h="1028700">
                  <a:moveTo>
                    <a:pt x="51890" y="1028699"/>
                  </a:moveTo>
                  <a:lnTo>
                    <a:pt x="49571" y="1028699"/>
                  </a:lnTo>
                  <a:lnTo>
                    <a:pt x="42280" y="1027249"/>
                  </a:lnTo>
                  <a:lnTo>
                    <a:pt x="7249" y="1000421"/>
                  </a:lnTo>
                  <a:lnTo>
                    <a:pt x="0" y="97912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90" y="0"/>
                  </a:lnTo>
                  <a:lnTo>
                    <a:pt x="47399" y="5579"/>
                  </a:lnTo>
                  <a:lnTo>
                    <a:pt x="43680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971550"/>
                  </a:lnTo>
                  <a:lnTo>
                    <a:pt x="43680" y="1011960"/>
                  </a:lnTo>
                  <a:lnTo>
                    <a:pt x="47399" y="1023120"/>
                  </a:lnTo>
                  <a:lnTo>
                    <a:pt x="51890" y="1028699"/>
                  </a:lnTo>
                  <a:close/>
                </a:path>
              </a:pathLst>
            </a:custGeom>
            <a:solidFill>
              <a:srgbClr val="2D8B4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0799" y="2952749"/>
              <a:ext cx="190499" cy="190499"/>
            </a:xfrm>
            <a:prstGeom prst="rect">
              <a:avLst/>
            </a:prstGeom>
          </p:spPr>
        </p:pic>
      </p:grpSp>
      <p:grpSp>
        <p:nvGrpSpPr>
          <p:cNvPr id="24" name="object 24" descr=""/>
          <p:cNvGrpSpPr/>
          <p:nvPr/>
        </p:nvGrpSpPr>
        <p:grpSpPr>
          <a:xfrm>
            <a:off x="609599" y="3981449"/>
            <a:ext cx="10972800" cy="1828800"/>
            <a:chOff x="609599" y="3981449"/>
            <a:chExt cx="10972800" cy="1828800"/>
          </a:xfrm>
        </p:grpSpPr>
        <p:sp>
          <p:nvSpPr>
            <p:cNvPr id="25" name="object 25" descr=""/>
            <p:cNvSpPr/>
            <p:nvPr/>
          </p:nvSpPr>
          <p:spPr>
            <a:xfrm>
              <a:off x="6267448" y="3981449"/>
              <a:ext cx="5314950" cy="1257300"/>
            </a:xfrm>
            <a:custGeom>
              <a:avLst/>
              <a:gdLst/>
              <a:ahLst/>
              <a:cxnLst/>
              <a:rect l="l" t="t" r="r" b="b"/>
              <a:pathLst>
                <a:path w="5314950" h="1257300">
                  <a:moveTo>
                    <a:pt x="5261552" y="1257299"/>
                  </a:moveTo>
                  <a:lnTo>
                    <a:pt x="33047" y="1257299"/>
                  </a:lnTo>
                  <a:lnTo>
                    <a:pt x="4833" y="1229020"/>
                  </a:lnTo>
                  <a:lnTo>
                    <a:pt x="0" y="1207727"/>
                  </a:lnTo>
                  <a:lnTo>
                    <a:pt x="0" y="1200149"/>
                  </a:lnTo>
                  <a:lnTo>
                    <a:pt x="0" y="49571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5261552" y="0"/>
                  </a:lnTo>
                  <a:lnTo>
                    <a:pt x="5300863" y="19392"/>
                  </a:lnTo>
                  <a:lnTo>
                    <a:pt x="5314949" y="53397"/>
                  </a:lnTo>
                  <a:lnTo>
                    <a:pt x="5314949" y="1203901"/>
                  </a:lnTo>
                  <a:lnTo>
                    <a:pt x="5295557" y="1243214"/>
                  </a:lnTo>
                  <a:lnTo>
                    <a:pt x="5265268" y="1256933"/>
                  </a:lnTo>
                  <a:lnTo>
                    <a:pt x="5261552" y="1257299"/>
                  </a:lnTo>
                  <a:close/>
                </a:path>
              </a:pathLst>
            </a:custGeom>
            <a:solidFill>
              <a:srgbClr val="2D8B4A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248399" y="3981449"/>
              <a:ext cx="52069" cy="1257300"/>
            </a:xfrm>
            <a:custGeom>
              <a:avLst/>
              <a:gdLst/>
              <a:ahLst/>
              <a:cxnLst/>
              <a:rect l="l" t="t" r="r" b="b"/>
              <a:pathLst>
                <a:path w="52070" h="1257300">
                  <a:moveTo>
                    <a:pt x="51890" y="1257299"/>
                  </a:moveTo>
                  <a:lnTo>
                    <a:pt x="49571" y="1257299"/>
                  </a:lnTo>
                  <a:lnTo>
                    <a:pt x="42280" y="1255849"/>
                  </a:lnTo>
                  <a:lnTo>
                    <a:pt x="7249" y="1229021"/>
                  </a:lnTo>
                  <a:lnTo>
                    <a:pt x="0" y="120772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90" y="0"/>
                  </a:lnTo>
                  <a:lnTo>
                    <a:pt x="47399" y="5579"/>
                  </a:lnTo>
                  <a:lnTo>
                    <a:pt x="43680" y="16738"/>
                  </a:lnTo>
                  <a:lnTo>
                    <a:pt x="41238" y="25541"/>
                  </a:lnTo>
                  <a:lnTo>
                    <a:pt x="39494" y="35211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1200150"/>
                  </a:lnTo>
                  <a:lnTo>
                    <a:pt x="43680" y="1240561"/>
                  </a:lnTo>
                  <a:lnTo>
                    <a:pt x="47399" y="1251720"/>
                  </a:lnTo>
                  <a:lnTo>
                    <a:pt x="51890" y="1257299"/>
                  </a:lnTo>
                  <a:close/>
                </a:path>
              </a:pathLst>
            </a:custGeom>
            <a:solidFill>
              <a:srgbClr val="2D8B4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0799" y="4133849"/>
              <a:ext cx="190499" cy="190499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609599" y="5238749"/>
              <a:ext cx="10972800" cy="571500"/>
            </a:xfrm>
            <a:custGeom>
              <a:avLst/>
              <a:gdLst/>
              <a:ahLst/>
              <a:cxnLst/>
              <a:rect l="l" t="t" r="r" b="b"/>
              <a:pathLst>
                <a:path w="10972800" h="571500">
                  <a:moveTo>
                    <a:pt x="10901602" y="571499"/>
                  </a:moveTo>
                  <a:lnTo>
                    <a:pt x="71196" y="571499"/>
                  </a:lnTo>
                  <a:lnTo>
                    <a:pt x="66241" y="571011"/>
                  </a:lnTo>
                  <a:lnTo>
                    <a:pt x="29705" y="555878"/>
                  </a:lnTo>
                  <a:lnTo>
                    <a:pt x="3885" y="519837"/>
                  </a:lnTo>
                  <a:lnTo>
                    <a:pt x="0" y="500303"/>
                  </a:lnTo>
                  <a:lnTo>
                    <a:pt x="0" y="4952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0901602" y="0"/>
                  </a:lnTo>
                  <a:lnTo>
                    <a:pt x="10943091" y="15621"/>
                  </a:lnTo>
                  <a:lnTo>
                    <a:pt x="10968911" y="51660"/>
                  </a:lnTo>
                  <a:lnTo>
                    <a:pt x="10972798" y="71196"/>
                  </a:lnTo>
                  <a:lnTo>
                    <a:pt x="10972798" y="500303"/>
                  </a:lnTo>
                  <a:lnTo>
                    <a:pt x="10957175" y="541794"/>
                  </a:lnTo>
                  <a:lnTo>
                    <a:pt x="10921136" y="567614"/>
                  </a:lnTo>
                  <a:lnTo>
                    <a:pt x="10906556" y="571011"/>
                  </a:lnTo>
                  <a:lnTo>
                    <a:pt x="10901602" y="571499"/>
                  </a:lnTo>
                  <a:close/>
                </a:path>
              </a:pathLst>
            </a:custGeom>
            <a:solidFill>
              <a:srgbClr val="ECFD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6388099" y="1583787"/>
            <a:ext cx="4582160" cy="92964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278765">
              <a:lnSpc>
                <a:spcPct val="100000"/>
              </a:lnSpc>
              <a:spcBef>
                <a:spcPts val="1055"/>
              </a:spcBef>
            </a:pPr>
            <a:r>
              <a:rPr dirty="0" sz="1700" spc="-30" b="1">
                <a:solidFill>
                  <a:srgbClr val="333333"/>
                </a:solidFill>
                <a:latin typeface="Montserrat SemiBold"/>
                <a:cs typeface="Montserrat SemiBold"/>
              </a:rPr>
              <a:t>Agriculture</a:t>
            </a:r>
            <a:endParaRPr sz="1700">
              <a:latin typeface="Montserrat SemiBold"/>
              <a:cs typeface="Montserrat SemiBold"/>
            </a:endParaRPr>
          </a:p>
          <a:p>
            <a:pPr marL="12700" marR="5080">
              <a:lnSpc>
                <a:spcPct val="115399"/>
              </a:lnSpc>
              <a:spcBef>
                <a:spcPts val="515"/>
              </a:spcBef>
            </a:pPr>
            <a:r>
              <a:rPr dirty="0" sz="1300" spc="-70">
                <a:solidFill>
                  <a:srgbClr val="333333"/>
                </a:solidFill>
                <a:latin typeface="Montserrat"/>
                <a:cs typeface="Montserrat"/>
              </a:rPr>
              <a:t>Research</a:t>
            </a:r>
            <a:r>
              <a:rPr dirty="0" sz="130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0">
                <a:solidFill>
                  <a:srgbClr val="333333"/>
                </a:solidFill>
                <a:latin typeface="Montserrat"/>
                <a:cs typeface="Montserrat"/>
              </a:rPr>
              <a:t>on</a:t>
            </a:r>
            <a:r>
              <a:rPr dirty="0" sz="130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Montserrat"/>
                <a:cs typeface="Montserrat"/>
              </a:rPr>
              <a:t>photosynthesis</a:t>
            </a:r>
            <a:r>
              <a:rPr dirty="0" sz="130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Montserrat"/>
                <a:cs typeface="Montserrat"/>
              </a:rPr>
              <a:t>efficiency</a:t>
            </a:r>
            <a:r>
              <a:rPr dirty="0" sz="130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0">
                <a:solidFill>
                  <a:srgbClr val="333333"/>
                </a:solidFill>
                <a:latin typeface="Montserrat"/>
                <a:cs typeface="Montserrat"/>
              </a:rPr>
              <a:t>leads</a:t>
            </a:r>
            <a:r>
              <a:rPr dirty="0" sz="130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5">
                <a:solidFill>
                  <a:srgbClr val="333333"/>
                </a:solidFill>
                <a:latin typeface="Montserrat"/>
                <a:cs typeface="Montserrat"/>
              </a:rPr>
              <a:t>to</a:t>
            </a:r>
            <a:r>
              <a:rPr dirty="0" sz="130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20">
                <a:solidFill>
                  <a:srgbClr val="333333"/>
                </a:solidFill>
                <a:latin typeface="Montserrat"/>
                <a:cs typeface="Montserrat"/>
              </a:rPr>
              <a:t>crop </a:t>
            </a:r>
            <a:r>
              <a:rPr dirty="0" sz="1300" spc="-70">
                <a:solidFill>
                  <a:srgbClr val="333333"/>
                </a:solidFill>
                <a:latin typeface="Montserrat"/>
                <a:cs typeface="Montserrat"/>
              </a:rPr>
              <a:t>improvements,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Montserrat"/>
                <a:cs typeface="Montserrat"/>
              </a:rPr>
              <a:t>increased</a:t>
            </a:r>
            <a:r>
              <a:rPr dirty="0" sz="1300" spc="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45">
                <a:solidFill>
                  <a:srgbClr val="333333"/>
                </a:solidFill>
                <a:latin typeface="Montserrat"/>
                <a:cs typeface="Montserrat"/>
              </a:rPr>
              <a:t>yields,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5">
                <a:solidFill>
                  <a:srgbClr val="333333"/>
                </a:solidFill>
                <a:latin typeface="Montserrat"/>
                <a:cs typeface="Montserrat"/>
              </a:rPr>
              <a:t>and</a:t>
            </a:r>
            <a:r>
              <a:rPr dirty="0" sz="1300" spc="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0">
                <a:solidFill>
                  <a:srgbClr val="333333"/>
                </a:solidFill>
                <a:latin typeface="Montserrat"/>
                <a:cs typeface="Montserrat"/>
              </a:rPr>
              <a:t>food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0">
                <a:solidFill>
                  <a:srgbClr val="333333"/>
                </a:solidFill>
                <a:latin typeface="Montserrat"/>
                <a:cs typeface="Montserrat"/>
              </a:rPr>
              <a:t>security</a:t>
            </a:r>
            <a:r>
              <a:rPr dirty="0" sz="1300" spc="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40">
                <a:solidFill>
                  <a:srgbClr val="333333"/>
                </a:solidFill>
                <a:latin typeface="Montserrat"/>
                <a:cs typeface="Montserrat"/>
              </a:rPr>
              <a:t>solutions.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388099" y="2764887"/>
            <a:ext cx="5005070" cy="92964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278765">
              <a:lnSpc>
                <a:spcPct val="100000"/>
              </a:lnSpc>
              <a:spcBef>
                <a:spcPts val="1055"/>
              </a:spcBef>
            </a:pPr>
            <a:r>
              <a:rPr dirty="0" sz="1700" spc="-145" b="1">
                <a:solidFill>
                  <a:srgbClr val="333333"/>
                </a:solidFill>
                <a:latin typeface="Montserrat SemiBold"/>
                <a:cs typeface="Montserrat SemiBold"/>
              </a:rPr>
              <a:t>Renewable</a:t>
            </a:r>
            <a:r>
              <a:rPr dirty="0" sz="1700" spc="-35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700" spc="-10" b="1">
                <a:solidFill>
                  <a:srgbClr val="333333"/>
                </a:solidFill>
                <a:latin typeface="Montserrat SemiBold"/>
                <a:cs typeface="Montserrat SemiBold"/>
              </a:rPr>
              <a:t>Energy</a:t>
            </a:r>
            <a:endParaRPr sz="1700">
              <a:latin typeface="Montserrat SemiBold"/>
              <a:cs typeface="Montserrat SemiBold"/>
            </a:endParaRPr>
          </a:p>
          <a:p>
            <a:pPr marL="12700" marR="5080">
              <a:lnSpc>
                <a:spcPct val="115399"/>
              </a:lnSpc>
              <a:spcBef>
                <a:spcPts val="515"/>
              </a:spcBef>
            </a:pPr>
            <a:r>
              <a:rPr dirty="0" sz="1300" spc="-55">
                <a:solidFill>
                  <a:srgbClr val="333333"/>
                </a:solidFill>
                <a:latin typeface="Montserrat"/>
                <a:cs typeface="Montserrat"/>
              </a:rPr>
              <a:t>Biofuels</a:t>
            </a:r>
            <a:r>
              <a:rPr dirty="0" sz="130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0">
                <a:solidFill>
                  <a:srgbClr val="333333"/>
                </a:solidFill>
                <a:latin typeface="Montserrat"/>
                <a:cs typeface="Montserrat"/>
              </a:rPr>
              <a:t>derived</a:t>
            </a:r>
            <a:r>
              <a:rPr dirty="0" sz="130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5">
                <a:solidFill>
                  <a:srgbClr val="333333"/>
                </a:solidFill>
                <a:latin typeface="Montserrat"/>
                <a:cs typeface="Montserrat"/>
              </a:rPr>
              <a:t>from</a:t>
            </a:r>
            <a:r>
              <a:rPr dirty="0" sz="130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Montserrat"/>
                <a:cs typeface="Montserrat"/>
              </a:rPr>
              <a:t>photosynthetic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Montserrat"/>
                <a:cs typeface="Montserrat"/>
              </a:rPr>
              <a:t>organisms</a:t>
            </a:r>
            <a:r>
              <a:rPr dirty="0" sz="130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Montserrat"/>
                <a:cs typeface="Montserrat"/>
              </a:rPr>
              <a:t>offer</a:t>
            </a:r>
            <a:r>
              <a:rPr dirty="0" sz="130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45">
                <a:solidFill>
                  <a:srgbClr val="333333"/>
                </a:solidFill>
                <a:latin typeface="Montserrat"/>
                <a:cs typeface="Montserrat"/>
              </a:rPr>
              <a:t>sustainable </a:t>
            </a:r>
            <a:r>
              <a:rPr dirty="0" sz="1300" spc="-60">
                <a:solidFill>
                  <a:srgbClr val="333333"/>
                </a:solidFill>
                <a:latin typeface="Montserrat"/>
                <a:cs typeface="Montserrat"/>
              </a:rPr>
              <a:t>alternatives</a:t>
            </a:r>
            <a:r>
              <a:rPr dirty="0" sz="130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5">
                <a:solidFill>
                  <a:srgbClr val="333333"/>
                </a:solidFill>
                <a:latin typeface="Montserrat"/>
                <a:cs typeface="Montserrat"/>
              </a:rPr>
              <a:t>to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Montserrat"/>
                <a:cs typeface="Montserrat"/>
              </a:rPr>
              <a:t>fossil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ontserrat"/>
                <a:cs typeface="Montserrat"/>
              </a:rPr>
              <a:t>fuels.</a:t>
            </a:r>
            <a:endParaRPr sz="1300">
              <a:latin typeface="Montserrat"/>
              <a:cs typeface="Montserra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962969" y="3945987"/>
            <a:ext cx="7911465" cy="173101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3703954">
              <a:lnSpc>
                <a:spcPct val="100000"/>
              </a:lnSpc>
              <a:spcBef>
                <a:spcPts val="1055"/>
              </a:spcBef>
            </a:pPr>
            <a:r>
              <a:rPr dirty="0" sz="1700" spc="-105" b="1">
                <a:solidFill>
                  <a:srgbClr val="333333"/>
                </a:solidFill>
                <a:latin typeface="Montserrat SemiBold"/>
                <a:cs typeface="Montserrat SemiBold"/>
              </a:rPr>
              <a:t>Scientific</a:t>
            </a:r>
            <a:r>
              <a:rPr dirty="0" sz="1700" spc="-35" b="1">
                <a:solidFill>
                  <a:srgbClr val="333333"/>
                </a:solidFill>
                <a:latin typeface="Montserrat SemiBold"/>
                <a:cs typeface="Montserrat SemiBold"/>
              </a:rPr>
              <a:t> </a:t>
            </a:r>
            <a:r>
              <a:rPr dirty="0" sz="1700" spc="-10" b="1">
                <a:solidFill>
                  <a:srgbClr val="333333"/>
                </a:solidFill>
                <a:latin typeface="Montserrat SemiBold"/>
                <a:cs typeface="Montserrat SemiBold"/>
              </a:rPr>
              <a:t>Research</a:t>
            </a:r>
            <a:endParaRPr sz="1700">
              <a:latin typeface="Montserrat SemiBold"/>
              <a:cs typeface="Montserrat SemiBold"/>
            </a:endParaRPr>
          </a:p>
          <a:p>
            <a:pPr marL="3437254" marR="5080">
              <a:lnSpc>
                <a:spcPct val="115399"/>
              </a:lnSpc>
              <a:spcBef>
                <a:spcPts val="515"/>
              </a:spcBef>
            </a:pPr>
            <a:r>
              <a:rPr dirty="0" sz="1300" spc="-65">
                <a:solidFill>
                  <a:srgbClr val="333333"/>
                </a:solidFill>
                <a:latin typeface="Montserrat"/>
                <a:cs typeface="Montserrat"/>
              </a:rPr>
              <a:t>Studies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Montserrat"/>
                <a:cs typeface="Montserrat"/>
              </a:rPr>
              <a:t>of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Montserrat"/>
                <a:cs typeface="Montserrat"/>
              </a:rPr>
              <a:t>photosynthesis</a:t>
            </a:r>
            <a:r>
              <a:rPr dirty="0" sz="1300" spc="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0">
                <a:solidFill>
                  <a:srgbClr val="333333"/>
                </a:solidFill>
                <a:latin typeface="Montserrat"/>
                <a:cs typeface="Montserrat"/>
              </a:rPr>
              <a:t>inform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Montserrat"/>
                <a:cs typeface="Montserrat"/>
              </a:rPr>
              <a:t>climate</a:t>
            </a:r>
            <a:r>
              <a:rPr dirty="0" sz="1300" spc="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80">
                <a:solidFill>
                  <a:srgbClr val="333333"/>
                </a:solidFill>
                <a:latin typeface="Montserrat"/>
                <a:cs typeface="Montserrat"/>
              </a:rPr>
              <a:t>change</a:t>
            </a:r>
            <a:r>
              <a:rPr dirty="0" sz="130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10">
                <a:solidFill>
                  <a:srgbClr val="333333"/>
                </a:solidFill>
                <a:latin typeface="Montserrat"/>
                <a:cs typeface="Montserrat"/>
              </a:rPr>
              <a:t>models, </a:t>
            </a:r>
            <a:r>
              <a:rPr dirty="0" sz="1300" spc="-70">
                <a:solidFill>
                  <a:srgbClr val="333333"/>
                </a:solidFill>
                <a:latin typeface="Montserrat"/>
                <a:cs typeface="Montserrat"/>
              </a:rPr>
              <a:t>ecosystem</a:t>
            </a:r>
            <a:r>
              <a:rPr dirty="0" sz="130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0">
                <a:solidFill>
                  <a:srgbClr val="333333"/>
                </a:solidFill>
                <a:latin typeface="Montserrat"/>
                <a:cs typeface="Montserrat"/>
              </a:rPr>
              <a:t>health</a:t>
            </a:r>
            <a:r>
              <a:rPr dirty="0" sz="130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Montserrat"/>
                <a:cs typeface="Montserrat"/>
              </a:rPr>
              <a:t>monitoring,</a:t>
            </a:r>
            <a:r>
              <a:rPr dirty="0" sz="130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75">
                <a:solidFill>
                  <a:srgbClr val="333333"/>
                </a:solidFill>
                <a:latin typeface="Montserrat"/>
                <a:cs typeface="Montserrat"/>
              </a:rPr>
              <a:t>and</a:t>
            </a:r>
            <a:r>
              <a:rPr dirty="0" sz="1300" spc="-5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45">
                <a:solidFill>
                  <a:srgbClr val="333333"/>
                </a:solidFill>
                <a:latin typeface="Montserrat"/>
                <a:cs typeface="Montserrat"/>
              </a:rPr>
              <a:t>artificial</a:t>
            </a:r>
            <a:r>
              <a:rPr dirty="0" sz="1300" spc="-10">
                <a:solidFill>
                  <a:srgbClr val="333333"/>
                </a:solidFill>
                <a:latin typeface="Montserrat"/>
                <a:cs typeface="Montserrat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Montserrat"/>
                <a:cs typeface="Montserrat"/>
              </a:rPr>
              <a:t>photosynthesis </a:t>
            </a:r>
            <a:r>
              <a:rPr dirty="0" sz="1300" spc="-10">
                <a:solidFill>
                  <a:srgbClr val="333333"/>
                </a:solidFill>
                <a:latin typeface="Montserrat"/>
                <a:cs typeface="Montserrat"/>
              </a:rPr>
              <a:t>technology.</a:t>
            </a:r>
            <a:endParaRPr sz="1300">
              <a:latin typeface="Montserrat"/>
              <a:cs typeface="Montserrat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200">
              <a:latin typeface="Montserrat"/>
              <a:cs typeface="Montserra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45" i="1">
                <a:latin typeface="Lucida Sans"/>
                <a:cs typeface="Lucida Sans"/>
              </a:rPr>
              <a:t>"Photosynthesis</a:t>
            </a:r>
            <a:r>
              <a:rPr dirty="0" sz="1350" spc="-75" i="1">
                <a:latin typeface="Lucida Sans"/>
                <a:cs typeface="Lucida Sans"/>
              </a:rPr>
              <a:t> </a:t>
            </a:r>
            <a:r>
              <a:rPr dirty="0" sz="1350" spc="-35" i="1">
                <a:latin typeface="Lucida Sans"/>
                <a:cs typeface="Lucida Sans"/>
              </a:rPr>
              <a:t>doesn't</a:t>
            </a:r>
            <a:r>
              <a:rPr dirty="0" sz="1350" spc="-70" i="1">
                <a:latin typeface="Lucida Sans"/>
                <a:cs typeface="Lucida Sans"/>
              </a:rPr>
              <a:t> </a:t>
            </a:r>
            <a:r>
              <a:rPr dirty="0" sz="1350" spc="-75" i="1">
                <a:latin typeface="Lucida Sans"/>
                <a:cs typeface="Lucida Sans"/>
              </a:rPr>
              <a:t>just</a:t>
            </a:r>
            <a:r>
              <a:rPr dirty="0" sz="1350" spc="-70" i="1">
                <a:latin typeface="Lucida Sans"/>
                <a:cs typeface="Lucida Sans"/>
              </a:rPr>
              <a:t> </a:t>
            </a:r>
            <a:r>
              <a:rPr dirty="0" sz="1350" spc="-30" i="1">
                <a:latin typeface="Lucida Sans"/>
                <a:cs typeface="Lucida Sans"/>
              </a:rPr>
              <a:t>keep</a:t>
            </a:r>
            <a:r>
              <a:rPr dirty="0" sz="1350" spc="-70" i="1">
                <a:latin typeface="Lucida Sans"/>
                <a:cs typeface="Lucida Sans"/>
              </a:rPr>
              <a:t> </a:t>
            </a:r>
            <a:r>
              <a:rPr dirty="0" sz="1350" spc="-65" i="1">
                <a:latin typeface="Lucida Sans"/>
                <a:cs typeface="Lucida Sans"/>
              </a:rPr>
              <a:t>plants</a:t>
            </a:r>
            <a:r>
              <a:rPr dirty="0" sz="1350" spc="-70" i="1">
                <a:latin typeface="Lucida Sans"/>
                <a:cs typeface="Lucida Sans"/>
              </a:rPr>
              <a:t> </a:t>
            </a:r>
            <a:r>
              <a:rPr dirty="0" sz="1350" spc="-95" i="1">
                <a:latin typeface="Lucida Sans"/>
                <a:cs typeface="Lucida Sans"/>
              </a:rPr>
              <a:t>alive—</a:t>
            </a:r>
            <a:r>
              <a:rPr dirty="0" sz="1350" spc="-70" i="1">
                <a:latin typeface="Lucida Sans"/>
                <a:cs typeface="Lucida Sans"/>
              </a:rPr>
              <a:t>it </a:t>
            </a:r>
            <a:r>
              <a:rPr dirty="0" sz="1350" spc="-40" i="1">
                <a:latin typeface="Lucida Sans"/>
                <a:cs typeface="Lucida Sans"/>
              </a:rPr>
              <a:t>keeps</a:t>
            </a:r>
            <a:r>
              <a:rPr dirty="0" sz="1350" spc="-70" i="1">
                <a:latin typeface="Lucida Sans"/>
                <a:cs typeface="Lucida Sans"/>
              </a:rPr>
              <a:t> </a:t>
            </a:r>
            <a:r>
              <a:rPr dirty="0" sz="1350" spc="-80" i="1">
                <a:latin typeface="Lucida Sans"/>
                <a:cs typeface="Lucida Sans"/>
              </a:rPr>
              <a:t>our</a:t>
            </a:r>
            <a:r>
              <a:rPr dirty="0" sz="1350" spc="-70" i="1">
                <a:latin typeface="Lucida Sans"/>
                <a:cs typeface="Lucida Sans"/>
              </a:rPr>
              <a:t> </a:t>
            </a:r>
            <a:r>
              <a:rPr dirty="0" sz="1350" spc="-60" i="1">
                <a:latin typeface="Lucida Sans"/>
                <a:cs typeface="Lucida Sans"/>
              </a:rPr>
              <a:t>entire</a:t>
            </a:r>
            <a:r>
              <a:rPr dirty="0" sz="1350" spc="-75" i="1">
                <a:latin typeface="Lucida Sans"/>
                <a:cs typeface="Lucida Sans"/>
              </a:rPr>
              <a:t> </a:t>
            </a:r>
            <a:r>
              <a:rPr dirty="0" sz="1350" spc="-50" i="1">
                <a:latin typeface="Lucida Sans"/>
                <a:cs typeface="Lucida Sans"/>
              </a:rPr>
              <a:t>planet</a:t>
            </a:r>
            <a:r>
              <a:rPr dirty="0" sz="1350" spc="-70" i="1">
                <a:latin typeface="Lucida Sans"/>
                <a:cs typeface="Lucida Sans"/>
              </a:rPr>
              <a:t> </a:t>
            </a:r>
            <a:r>
              <a:rPr dirty="0" sz="1350" spc="-10" i="1">
                <a:latin typeface="Lucida Sans"/>
                <a:cs typeface="Lucida Sans"/>
              </a:rPr>
              <a:t>thriving."</a:t>
            </a:r>
            <a:endParaRPr sz="1350">
              <a:latin typeface="Lucida Sans"/>
              <a:cs typeface="Lucida Sans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0" y="6762749"/>
            <a:ext cx="12192000" cy="95250"/>
          </a:xfrm>
          <a:custGeom>
            <a:avLst/>
            <a:gdLst/>
            <a:ahLst/>
            <a:cxnLst/>
            <a:rect l="l" t="t" r="r" b="b"/>
            <a:pathLst>
              <a:path w="12192000" h="95250">
                <a:moveTo>
                  <a:pt x="12191999" y="95249"/>
                </a:moveTo>
                <a:lnTo>
                  <a:pt x="0" y="952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9"/>
                </a:lnTo>
                <a:close/>
              </a:path>
            </a:pathLst>
          </a:custGeom>
          <a:solidFill>
            <a:srgbClr val="2D8B4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" name="object 33" descr=""/>
          <p:cNvGrpSpPr/>
          <p:nvPr/>
        </p:nvGrpSpPr>
        <p:grpSpPr>
          <a:xfrm>
            <a:off x="10401299" y="6343649"/>
            <a:ext cx="1600200" cy="323850"/>
            <a:chOff x="10401299" y="6343649"/>
            <a:chExt cx="1600200" cy="323850"/>
          </a:xfrm>
        </p:grpSpPr>
        <p:sp>
          <p:nvSpPr>
            <p:cNvPr id="34" name="object 34" descr=""/>
            <p:cNvSpPr/>
            <p:nvPr/>
          </p:nvSpPr>
          <p:spPr>
            <a:xfrm>
              <a:off x="10401299" y="6343649"/>
              <a:ext cx="1600200" cy="323850"/>
            </a:xfrm>
            <a:custGeom>
              <a:avLst/>
              <a:gdLst/>
              <a:ahLst/>
              <a:cxnLst/>
              <a:rect l="l" t="t" r="r" b="b"/>
              <a:pathLst>
                <a:path w="1600200" h="323850">
                  <a:moveTo>
                    <a:pt x="1567152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567152" y="0"/>
                  </a:lnTo>
                  <a:lnTo>
                    <a:pt x="1599233" y="28187"/>
                  </a:lnTo>
                  <a:lnTo>
                    <a:pt x="1600199" y="33047"/>
                  </a:lnTo>
                  <a:lnTo>
                    <a:pt x="1600199" y="290802"/>
                  </a:lnTo>
                  <a:lnTo>
                    <a:pt x="1572012" y="322883"/>
                  </a:lnTo>
                  <a:lnTo>
                    <a:pt x="1567152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15599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36" name="object 3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9"/>
              </a:lnSpc>
            </a:pPr>
            <a:r>
              <a:rPr dirty="0" spc="-80"/>
              <a:t>Made</a:t>
            </a:r>
            <a:r>
              <a:rPr dirty="0" spc="-15"/>
              <a:t> </a:t>
            </a:r>
            <a:r>
              <a:rPr dirty="0" spc="-60"/>
              <a:t>with</a:t>
            </a:r>
            <a:r>
              <a:rPr dirty="0" spc="-10"/>
              <a:t> </a:t>
            </a:r>
            <a:r>
              <a:rPr dirty="0" spc="-55"/>
              <a:t>Genspark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2025-07-20T06:01:53Z</dcterms:created>
  <dcterms:modified xsi:type="dcterms:W3CDTF">2025-07-20T06:01:53Z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2025-07-20T00:00:00Z</vt:filetime>
  </property>
  <property fmtid="{D5CDD505-2E9C-101B-9397-08002B2CF9AE}" pid="3" name="Producer">
    <vt:lpwstr>pypdf</vt:lpwstr>
  </property>
  <property fmtid="{D5CDD505-2E9C-101B-9397-08002B2CF9AE}" pid="4" name="LastSaved">
    <vt:filetime>2025-07-20T00:00:00Z</vt:filetime>
  </property>
</Properties>
</file>